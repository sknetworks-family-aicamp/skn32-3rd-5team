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26"/>
    <p:sldId id="261" r:id="rId21"/>
    <p:sldId id="262" r:id="rId22"/>
    <p:sldId id="263" r:id="rId23"/>
    <p:sldId id="264" r:id="rId24"/>
    <p:sldId id="265" r:id="rId25"/>
    <p:sldId id="266" r:id="rId30"/>
    <p:sldId id="267" r:id="rId27"/>
    <p:sldId id="268" r:id="rId10"/>
    <p:sldId id="269" r:id="rId11"/>
    <p:sldId id="270" r:id="rId28"/>
    <p:sldId id="271" r:id="rId29"/>
    <p:sldId id="272" r:id="rId14"/>
    <p:sldId id="273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91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5.xml"/><Relationship Id="rId27" Type="http://schemas.openxmlformats.org/officeDocument/2006/relationships/slide" Target="slides/slide12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427B2-8692-4A71-86D9-62D68147DBE6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543EF5-A803-47C8-B83F-208779C3E1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82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대상 종은 개·고양이·앵무새. 진단하지 않고 지금 무엇을 해야 하는지에 답하는 시스템.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543EF5-A803-47C8-B83F-208779C3E14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27562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B4BFD9-4181-9879-1958-7FAC4302A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979B11E-402E-3540-8829-EB467486B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0A64DA-3DE4-03EE-731C-028E1A367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F435-1589-47EB-85D5-4AC1CDAAA54F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2B8E03-8098-7838-2876-04B943A3B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37ECFF-7AD5-BF3C-6326-E266FF974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638C-DCAD-48F5-8CA1-4A5F6F8D3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13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E95D7-907A-5EF8-FE51-BC1B3407D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CBE32-0CB1-1038-F5EB-622A9187C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851467-1386-87F4-11F6-F3913E8B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F435-1589-47EB-85D5-4AC1CDAAA54F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137F22-EBB4-5CA3-0DBD-55DD82747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F2C801-9D47-F128-7D17-F5620648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638C-DCAD-48F5-8CA1-4A5F6F8D3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22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F8AC3-C3DB-EDCE-EECF-1900F8809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7848E8-0739-D77B-FFE7-5ACE0FC68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973CE8-A3D2-C157-8C15-5CB284D24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F435-1589-47EB-85D5-4AC1CDAAA54F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A1B4E6-B745-F2D1-2BB3-89AC85283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F206D2-F814-EACE-67D9-18F7C4141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638C-DCAD-48F5-8CA1-4A5F6F8D3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0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22382C-80DC-0E7D-42FD-CFA58A4B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8C81C5-7593-705C-928F-35CB308331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432BC9-3A84-93C6-1D1D-2DB51FA1A6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16F438-515B-F6F2-E0E8-40AC6F1C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F435-1589-47EB-85D5-4AC1CDAAA54F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4AE8AC-53A5-1C7C-7C90-F1191737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D94B2E-0CA9-8212-800A-97EE7125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638C-DCAD-48F5-8CA1-4A5F6F8D3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257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93905A-A365-35F7-609C-C2F40513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6F3780-8AB6-4FB8-BDF0-B6B98A663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51A218-F80E-540F-6306-4AD677843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333E43D-CFF0-BEF1-71D9-62D4923BCA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9D8977-7DEA-3078-04D4-357268F705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31D7117-B6FF-F840-10AB-0A380E8C6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F435-1589-47EB-85D5-4AC1CDAAA54F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5A7E8C-EF85-B9D0-4C62-C8A6571DE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087B67B-8B7E-F3F4-D064-6CDB1AD0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638C-DCAD-48F5-8CA1-4A5F6F8D3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07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32F24-C299-61A7-DDFA-938364244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DA2F23-77E5-31C2-8B47-7C95EB6B3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F435-1589-47EB-85D5-4AC1CDAAA54F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DAFCAA-4037-D990-C85A-9F94EAF5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312923-A116-C7F3-4379-536A8455F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638C-DCAD-48F5-8CA1-4A5F6F8D3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6433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F02CABE-5EDB-AF62-5201-37672A0F5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F435-1589-47EB-85D5-4AC1CDAAA54F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36DE69-BA5F-4BDC-F1ED-EAB22B03C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98AB96-C674-6E26-861E-FAAD6EE12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638C-DCAD-48F5-8CA1-4A5F6F8D3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88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9EA762-F341-BC2E-6BEB-6228EBF14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84B431-A3B0-957A-BB0A-0B5F43825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6BA039-0FB4-30F8-15C2-5B9BEBA73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2A88D5-68CA-C7A7-A471-93BD9C88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F435-1589-47EB-85D5-4AC1CDAAA54F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5677E5-A641-4DCA-BF8A-6986C90FD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8D7CAD4-1E17-DC97-4ADB-CD3BE63A9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638C-DCAD-48F5-8CA1-4A5F6F8D3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901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02CBF5-6EB9-A894-6E0D-B7D396E34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496478C-CA02-1CBD-557A-9DD9E6CDB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773DC1-6BA0-9EC5-C920-0FB9961F2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DE945D-8861-79AB-A112-533C08A17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F435-1589-47EB-85D5-4AC1CDAAA54F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93C9E3-1856-EC4E-8662-D0D6581B0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9D6579-A2B4-8251-C961-1E4B62B34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638C-DCAD-48F5-8CA1-4A5F6F8D3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8072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311923-94D1-71AD-CAB2-F5AF7FF72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0C255F-F6F4-D3B1-7017-69C1B7311A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92A698-AA9A-6023-9BF9-49751C1C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F435-1589-47EB-85D5-4AC1CDAAA54F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D2F81F-2AB0-5267-5707-D40231D56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36DCD-6A03-7DF3-C7F6-F5B008AA9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638C-DCAD-48F5-8CA1-4A5F6F8D3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581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CE42584-A31B-2AC5-C332-0F3325EE49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F07277-5BA8-29B2-C2C6-54E354489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22D6AF-6992-2244-8476-ADF4AC003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6F435-1589-47EB-85D5-4AC1CDAAA54F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B8AA41-C56A-6D23-5F37-4311F6BE6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F09414-DDC0-6A67-B0EE-BB9E2405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638C-DCAD-48F5-8CA1-4A5F6F8D3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618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3673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7C21E6-376D-2C50-AB4C-3F338F23B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4A2C8A-0724-6F38-97A5-B0333A84A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099F5B-1618-271B-9116-C4D8650AD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6F435-1589-47EB-85D5-4AC1CDAAA54F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45801E-B6C0-D293-A087-0F02F082C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F03172-55CF-43AF-2E21-3B0F13BDE9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8D638C-DCAD-48F5-8CA1-4A5F6F8D3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885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455C41"/>
          </a:solidFill>
          <a:ln w="12700">
            <a:solidFill>
              <a:srgbClr val="455C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455C41"/>
          </a:solidFill>
          <a:ln w="12700">
            <a:solidFill>
              <a:srgbClr val="455C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PetTriage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 헬스케어 다이어리 &amp; 응급 대응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33856" y="4229100"/>
            <a:ext cx="54864" cy="777240"/>
          </a:xfrm>
          <a:prstGeom prst="rect">
            <a:avLst/>
          </a:prstGeom>
          <a:solidFill>
            <a:srgbClr val="D89B3D"/>
          </a:solidFill>
          <a:ln w="12700">
            <a:solidFill>
              <a:srgbClr val="D89B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28016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BCA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save the pet</a:t>
            </a:r>
            <a:endParaRPr lang="en-US" sz="2400" b="1" dirty="0"/>
          </a:p>
        </p:txBody>
      </p:sp>
      <p:sp>
        <p:nvSpPr>
          <p:cNvPr id="9" name="Text 7"/>
          <p:cNvSpPr/>
          <p:nvPr/>
        </p:nvSpPr>
        <p:spPr>
          <a:xfrm>
            <a:off x="128016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오한빈   ·   이근준   ·   권소라   ·   이서은</a:t>
            </a:r>
            <a:endParaRPr lang="en-US" sz="1500" dirty="0"/>
          </a:p>
        </p:txBody>
      </p:sp>
      <p:pic>
        <p:nvPicPr>
          <p:cNvPr id="11" name="그래픽 10" descr="앰뷸런스 단색으로 채워진">
            <a:extLst>
              <a:ext uri="{FF2B5EF4-FFF2-40B4-BE49-F238E27FC236}">
                <a16:creationId xmlns:a16="http://schemas.microsoft.com/office/drawing/2014/main" id="{A7E52A2A-8A7D-3CA5-A644-CA87C15846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47001" y="1127443"/>
            <a:ext cx="1981517" cy="19815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395-3EBA-AFF6-B0A6-942AB2C78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47B98EE-1EB5-8D19-3765-4CC0165B1A82}"/>
              </a:ext>
            </a:extLst>
          </p:cNvPr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D2F7A983-12E4-8FB6-13E4-D6D9B82D6D55}"/>
              </a:ext>
            </a:extLst>
          </p:cNvPr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5B76D96-B9C4-D384-4174-4521E139E029}"/>
              </a:ext>
            </a:extLst>
          </p:cNvPr>
          <p:cNvCxnSpPr>
            <a:cxnSpLocks/>
          </p:cNvCxnSpPr>
          <p:nvPr/>
        </p:nvCxnSpPr>
        <p:spPr>
          <a:xfrm>
            <a:off x="-15240" y="792480"/>
            <a:ext cx="12207240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 0">
            <a:extLst>
              <a:ext uri="{FF2B5EF4-FFF2-40B4-BE49-F238E27FC236}">
                <a16:creationId xmlns:a16="http://schemas.microsoft.com/office/drawing/2014/main" id="{762DB046-7F07-68F2-EA15-9FE04A91A677}"/>
              </a:ext>
            </a:extLst>
          </p:cNvPr>
          <p:cNvSpPr/>
          <p:nvPr/>
        </p:nvSpPr>
        <p:spPr>
          <a:xfrm>
            <a:off x="304799" y="152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</a:rPr>
              <a:t>목</a:t>
            </a:r>
            <a:r>
              <a:rPr lang="en-US" altLang="ko-KR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</a:rPr>
              <a:t>	</a:t>
            </a:r>
            <a:r>
              <a:rPr lang="ko-KR" alt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</a:rPr>
              <a:t>차</a:t>
            </a:r>
            <a:endParaRPr lang="en-US" sz="32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123219C-05F2-C4FF-7F89-622C5909469B}"/>
              </a:ext>
            </a:extLst>
          </p:cNvPr>
          <p:cNvGrpSpPr/>
          <p:nvPr/>
        </p:nvGrpSpPr>
        <p:grpSpPr>
          <a:xfrm>
            <a:off x="741701" y="1988392"/>
            <a:ext cx="10871179" cy="923330"/>
            <a:chOff x="780288" y="3030870"/>
            <a:chExt cx="10871179" cy="92333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EE42F46-F601-CAB8-A8F8-75C5563F7091}"/>
                </a:ext>
              </a:extLst>
            </p:cNvPr>
            <p:cNvSpPr txBox="1"/>
            <p:nvPr/>
          </p:nvSpPr>
          <p:spPr>
            <a:xfrm>
              <a:off x="780288" y="3030870"/>
              <a:ext cx="183575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b="1" dirty="0">
                  <a:latin typeface="+mj-ea"/>
                  <a:ea typeface="+mj-ea"/>
                  <a:cs typeface="ADLaM Display" panose="02010000000000000000" pitchFamily="2" charset="0"/>
                </a:rPr>
                <a:t>WHY</a:t>
              </a:r>
              <a:endParaRPr lang="ko-KR" altLang="en-US" sz="5400" b="1" dirty="0">
                <a:latin typeface="+mj-ea"/>
                <a:ea typeface="+mj-ea"/>
                <a:cs typeface="ADLaM Display" panose="020100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9604EEC-D01C-0A44-4E6F-928DE8C0C62C}"/>
                </a:ext>
              </a:extLst>
            </p:cNvPr>
            <p:cNvSpPr txBox="1"/>
            <p:nvPr/>
          </p:nvSpPr>
          <p:spPr>
            <a:xfrm>
              <a:off x="3396687" y="3030870"/>
              <a:ext cx="19447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b="1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ea"/>
                  <a:ea typeface="+mj-ea"/>
                  <a:cs typeface="ADLaM Display" panose="02010000000000000000" pitchFamily="2" charset="0"/>
                </a:rPr>
                <a:t>HOW</a:t>
              </a:r>
              <a:endParaRPr lang="ko-KR" altLang="en-US" sz="54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ea"/>
                <a:ea typeface="+mj-ea"/>
                <a:cs typeface="ADLaM Display" panose="02010000000000000000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89A76BF-F788-9175-1198-5FDB42427AEE}"/>
                </a:ext>
              </a:extLst>
            </p:cNvPr>
            <p:cNvSpPr txBox="1"/>
            <p:nvPr/>
          </p:nvSpPr>
          <p:spPr>
            <a:xfrm>
              <a:off x="6122090" y="3030870"/>
              <a:ext cx="248818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b="1" dirty="0">
                  <a:solidFill>
                    <a:schemeClr val="accent6"/>
                  </a:solidFill>
                  <a:latin typeface="+mj-ea"/>
                  <a:ea typeface="+mj-ea"/>
                  <a:cs typeface="ADLaM Display" panose="02010000000000000000" pitchFamily="2" charset="0"/>
                </a:rPr>
                <a:t>PROOF</a:t>
              </a:r>
              <a:endParaRPr lang="ko-KR" altLang="en-US" sz="5400" b="1" dirty="0">
                <a:solidFill>
                  <a:schemeClr val="accent6"/>
                </a:solidFill>
                <a:latin typeface="+mj-ea"/>
                <a:ea typeface="+mj-ea"/>
                <a:cs typeface="ADLaM Display" panose="02010000000000000000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F88FFE-8F2D-9811-08D4-1FB6E309D446}"/>
                </a:ext>
              </a:extLst>
            </p:cNvPr>
            <p:cNvSpPr txBox="1"/>
            <p:nvPr/>
          </p:nvSpPr>
          <p:spPr>
            <a:xfrm>
              <a:off x="9390912" y="3030870"/>
              <a:ext cx="226055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b="1" dirty="0">
                  <a:solidFill>
                    <a:schemeClr val="accent6">
                      <a:lumMod val="50000"/>
                    </a:schemeClr>
                  </a:solidFill>
                  <a:latin typeface="+mj-ea"/>
                  <a:ea typeface="+mj-ea"/>
                  <a:cs typeface="ADLaM Display" panose="02010000000000000000" pitchFamily="2" charset="0"/>
                </a:rPr>
                <a:t>DEMO</a:t>
              </a:r>
              <a:endParaRPr lang="ko-KR" altLang="en-US" sz="5400" b="1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  <a:cs typeface="ADLaM Display" panose="02010000000000000000" pitchFamily="2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4B32B74-81FD-E9F5-773F-582946536EEB}"/>
              </a:ext>
            </a:extLst>
          </p:cNvPr>
          <p:cNvSpPr txBox="1"/>
          <p:nvPr/>
        </p:nvSpPr>
        <p:spPr>
          <a:xfrm>
            <a:off x="949289" y="2921554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왜 만들었나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AC4805-54EE-1D97-C703-F32B795C3A52}"/>
              </a:ext>
            </a:extLst>
          </p:cNvPr>
          <p:cNvSpPr txBox="1"/>
          <p:nvPr/>
        </p:nvSpPr>
        <p:spPr>
          <a:xfrm>
            <a:off x="3358100" y="2921554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어떻게 만들었나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605D29-19BA-BE87-6A31-A27C6957E5A7}"/>
              </a:ext>
            </a:extLst>
          </p:cNvPr>
          <p:cNvSpPr txBox="1"/>
          <p:nvPr/>
        </p:nvSpPr>
        <p:spPr>
          <a:xfrm>
            <a:off x="6732719" y="2921554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accent6"/>
                </a:solidFill>
              </a:rPr>
              <a:t>잘 되었나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B3705C-D0A8-C1E1-D178-3DD59F50E477}"/>
              </a:ext>
            </a:extLst>
          </p:cNvPr>
          <p:cNvSpPr txBox="1"/>
          <p:nvPr/>
        </p:nvSpPr>
        <p:spPr>
          <a:xfrm>
            <a:off x="9672123" y="2921554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accent6">
                    <a:lumMod val="50000"/>
                  </a:schemeClr>
                </a:solidFill>
              </a:rPr>
              <a:t>보여드립니다</a:t>
            </a:r>
            <a:r>
              <a:rPr lang="en-US" altLang="ko-KR" b="1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endParaRPr lang="ko-KR" altLang="en-US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EE1E4E-229A-F2EC-ADFF-74ECE4292927}"/>
              </a:ext>
            </a:extLst>
          </p:cNvPr>
          <p:cNvSpPr txBox="1"/>
          <p:nvPr/>
        </p:nvSpPr>
        <p:spPr>
          <a:xfrm>
            <a:off x="746315" y="3655139"/>
            <a:ext cx="2039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600" b="1" dirty="0">
                <a:latin typeface="+mn-ea"/>
              </a:rPr>
              <a:t>문제의식</a:t>
            </a:r>
            <a:endParaRPr lang="en-US" altLang="ko-KR" sz="16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b="1" dirty="0">
                <a:latin typeface="+mn-ea"/>
              </a:rPr>
              <a:t>무엇을 만들었나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2BFEFF-0BC8-271F-223B-403CFC7FB900}"/>
              </a:ext>
            </a:extLst>
          </p:cNvPr>
          <p:cNvSpPr txBox="1"/>
          <p:nvPr/>
        </p:nvSpPr>
        <p:spPr>
          <a:xfrm>
            <a:off x="3580582" y="3655139"/>
            <a:ext cx="1423788" cy="17007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600" b="1" dirty="0">
                <a:latin typeface="+mn-ea"/>
              </a:rPr>
              <a:t>데이터 · 전처리</a:t>
            </a:r>
            <a:endParaRPr lang="en-US" altLang="ko-KR" sz="16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b="1" dirty="0">
                <a:latin typeface="+mn-ea"/>
              </a:rPr>
              <a:t>사용 기술</a:t>
            </a:r>
            <a:endParaRPr lang="en-US" altLang="ko-KR" sz="16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b="1" dirty="0">
                <a:latin typeface="+mn-ea"/>
              </a:rPr>
              <a:t>백엔드 설계</a:t>
            </a:r>
            <a:endParaRPr lang="en-US" altLang="ko-KR" sz="16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b="1" dirty="0">
                <a:latin typeface="+mn-ea"/>
              </a:rPr>
              <a:t>질의 파이프라인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600" b="1" dirty="0">
                <a:latin typeface="+mn-ea"/>
              </a:rPr>
              <a:t>판정 구조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600" b="1" dirty="0">
                <a:latin typeface="+mn-ea"/>
              </a:rPr>
              <a:t>안전 장치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317155-EAA9-A42A-24AE-1389F4D99BEF}"/>
              </a:ext>
            </a:extLst>
          </p:cNvPr>
          <p:cNvSpPr txBox="1"/>
          <p:nvPr/>
        </p:nvSpPr>
        <p:spPr>
          <a:xfrm>
            <a:off x="6641959" y="3655139"/>
            <a:ext cx="1556836" cy="877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600" b="1" dirty="0">
                <a:latin typeface="+mn-ea"/>
              </a:rPr>
              <a:t>평가결과</a:t>
            </a:r>
            <a:endParaRPr lang="en-US" altLang="ko-KR" sz="1600" b="1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b="1" dirty="0">
                <a:latin typeface="+mn-ea"/>
              </a:rPr>
              <a:t>트러블슈팅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sz="1600" b="1" dirty="0">
                <a:latin typeface="+mn-ea"/>
              </a:rPr>
              <a:t>협업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E2D3CC-70AA-E95F-21AE-BB5D564725BA}"/>
              </a:ext>
            </a:extLst>
          </p:cNvPr>
          <p:cNvSpPr txBox="1"/>
          <p:nvPr/>
        </p:nvSpPr>
        <p:spPr>
          <a:xfrm>
            <a:off x="9437710" y="3655139"/>
            <a:ext cx="2039341" cy="3291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600" b="1" dirty="0">
                <a:latin typeface="+mn-ea"/>
              </a:rPr>
              <a:t>한계와 다음단계</a:t>
            </a:r>
            <a:endParaRPr lang="en-US" altLang="ko-KR" sz="1600" b="1" dirty="0">
              <a:latin typeface="+mn-ea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5E516A2-712B-355B-F822-D50F5D247D6B}"/>
              </a:ext>
            </a:extLst>
          </p:cNvPr>
          <p:cNvCxnSpPr>
            <a:cxnSpLocks/>
          </p:cNvCxnSpPr>
          <p:nvPr/>
        </p:nvCxnSpPr>
        <p:spPr>
          <a:xfrm>
            <a:off x="741701" y="3432687"/>
            <a:ext cx="176046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4D4A2BE-58B9-73B3-EFFC-0BC518B87CFD}"/>
              </a:ext>
            </a:extLst>
          </p:cNvPr>
          <p:cNvCxnSpPr>
            <a:cxnSpLocks/>
          </p:cNvCxnSpPr>
          <p:nvPr/>
        </p:nvCxnSpPr>
        <p:spPr>
          <a:xfrm>
            <a:off x="3290921" y="3429000"/>
            <a:ext cx="1988752" cy="0"/>
          </a:xfrm>
          <a:prstGeom prst="line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BB0048A-A4C1-0773-D431-E51802D3727D}"/>
              </a:ext>
            </a:extLst>
          </p:cNvPr>
          <p:cNvCxnSpPr>
            <a:cxnSpLocks/>
          </p:cNvCxnSpPr>
          <p:nvPr/>
        </p:nvCxnSpPr>
        <p:spPr>
          <a:xfrm>
            <a:off x="6096000" y="3432687"/>
            <a:ext cx="2509827" cy="0"/>
          </a:xfrm>
          <a:prstGeom prst="line">
            <a:avLst/>
          </a:prstGeom>
          <a:ln w="57150">
            <a:solidFill>
              <a:schemeClr val="accent6"/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CD84820-BE9F-FF53-CC3A-7464E390137B}"/>
              </a:ext>
            </a:extLst>
          </p:cNvPr>
          <p:cNvCxnSpPr>
            <a:cxnSpLocks/>
          </p:cNvCxnSpPr>
          <p:nvPr/>
        </p:nvCxnSpPr>
        <p:spPr>
          <a:xfrm>
            <a:off x="9437294" y="3432687"/>
            <a:ext cx="2090614" cy="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29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74DD-1774-E8A4-19B5-DE4D4BA70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2D596E89-03CF-B4C2-C39C-2CCFEA2BDC3C}"/>
              </a:ext>
            </a:extLst>
          </p:cNvPr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51D9EF69-EA7C-C4AF-0F1A-21D8D6DCFD47}"/>
              </a:ext>
            </a:extLst>
          </p:cNvPr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6F8A789-C974-8F5D-E0DB-A27FD539DD82}"/>
              </a:ext>
            </a:extLst>
          </p:cNvPr>
          <p:cNvCxnSpPr>
            <a:cxnSpLocks/>
          </p:cNvCxnSpPr>
          <p:nvPr/>
        </p:nvCxnSpPr>
        <p:spPr>
          <a:xfrm>
            <a:off x="-15240" y="792480"/>
            <a:ext cx="12207240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3FD8B49-CF31-5B67-C5BF-1B3397DFC4EB}"/>
              </a:ext>
            </a:extLst>
          </p:cNvPr>
          <p:cNvSpPr txBox="1"/>
          <p:nvPr/>
        </p:nvSpPr>
        <p:spPr>
          <a:xfrm>
            <a:off x="1200076" y="5788075"/>
            <a:ext cx="2367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highlight>
                  <a:srgbClr val="FFFF00"/>
                </a:highlight>
                <a:latin typeface="+mj-lt"/>
              </a:rPr>
              <a:t>“</a:t>
            </a:r>
            <a:r>
              <a:rPr lang="ko-KR" altLang="en-US" b="1" dirty="0">
                <a:highlight>
                  <a:srgbClr val="FFFF00"/>
                </a:highlight>
                <a:latin typeface="+mj-lt"/>
              </a:rPr>
              <a:t>이걸 줘도 되는가</a:t>
            </a:r>
            <a:r>
              <a:rPr lang="en-US" altLang="ko-KR" b="1" dirty="0">
                <a:highlight>
                  <a:srgbClr val="FFFF00"/>
                </a:highlight>
                <a:latin typeface="+mj-lt"/>
              </a:rPr>
              <a:t>?”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579CB0-5760-2D35-2164-FA19012B6AD9}"/>
              </a:ext>
            </a:extLst>
          </p:cNvPr>
          <p:cNvSpPr txBox="1"/>
          <p:nvPr/>
        </p:nvSpPr>
        <p:spPr>
          <a:xfrm>
            <a:off x="873865" y="3244334"/>
            <a:ext cx="3020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ko-KR" altLang="en-US" b="1" dirty="0">
                <a:latin typeface="+mj-lt"/>
              </a:rPr>
              <a:t>일상 관찰을 판정에 넣는다</a:t>
            </a:r>
            <a:r>
              <a:rPr lang="en-US" altLang="ko-KR" b="1" dirty="0">
                <a:latin typeface="+mj-lt"/>
              </a:rPr>
              <a:t>.</a:t>
            </a:r>
            <a:endParaRPr lang="ko-KR" altLang="ko-KR" b="1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79E6A-06CB-1C49-65BF-1B12AB03BD65}"/>
              </a:ext>
            </a:extLst>
          </p:cNvPr>
          <p:cNvSpPr txBox="1"/>
          <p:nvPr/>
        </p:nvSpPr>
        <p:spPr>
          <a:xfrm>
            <a:off x="668681" y="1636678"/>
            <a:ext cx="34307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ko-KR" altLang="en-US" b="1" dirty="0" err="1">
                <a:highlight>
                  <a:srgbClr val="FFFF00"/>
                </a:highlight>
                <a:latin typeface="+mj-lt"/>
              </a:rPr>
              <a:t>브이로그</a:t>
            </a:r>
            <a:r>
              <a:rPr lang="ko-KR" altLang="en-US" b="1" dirty="0">
                <a:highlight>
                  <a:srgbClr val="FFFF00"/>
                </a:highlight>
                <a:latin typeface="+mj-lt"/>
              </a:rPr>
              <a:t> 다이어리</a:t>
            </a:r>
            <a:r>
              <a:rPr lang="ko-KR" altLang="en-US" b="1" dirty="0">
                <a:latin typeface="+mj-lt"/>
              </a:rPr>
              <a:t> 통합</a:t>
            </a:r>
            <a:endParaRPr lang="en-US" altLang="ko-KR" b="1" dirty="0">
              <a:latin typeface="+mj-lt"/>
            </a:endParaRPr>
          </a:p>
          <a:p>
            <a:pPr lvl="0" algn="ctr"/>
            <a:r>
              <a:rPr lang="ko-KR" altLang="en-US" b="1" dirty="0">
                <a:latin typeface="+mj-lt"/>
              </a:rPr>
              <a:t>일상 기록을 남기고</a:t>
            </a:r>
            <a:r>
              <a:rPr lang="en-US" altLang="ko-KR" b="1" dirty="0">
                <a:latin typeface="+mj-lt"/>
              </a:rPr>
              <a:t>, </a:t>
            </a:r>
          </a:p>
          <a:p>
            <a:pPr lvl="0" algn="ctr"/>
            <a:r>
              <a:rPr lang="ko-KR" altLang="en-US" b="1" dirty="0">
                <a:latin typeface="+mj-lt"/>
              </a:rPr>
              <a:t>실 사용이 가능하도록 저장기능</a:t>
            </a:r>
            <a:endParaRPr lang="ko-KR" altLang="ko-KR" b="1" dirty="0">
              <a:latin typeface="+mj-lt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2CEFCBE-3CC3-4107-86B3-8DC4C442E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72" t="76306" r="14817" b="12353"/>
          <a:stretch>
            <a:fillRect/>
          </a:stretch>
        </p:blipFill>
        <p:spPr>
          <a:xfrm>
            <a:off x="5044439" y="5656656"/>
            <a:ext cx="6827521" cy="77774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4A9649F-5AC3-E7AC-F3C7-C5400F3EC594}"/>
              </a:ext>
            </a:extLst>
          </p:cNvPr>
          <p:cNvSpPr txBox="1"/>
          <p:nvPr/>
        </p:nvSpPr>
        <p:spPr>
          <a:xfrm>
            <a:off x="761654" y="4759885"/>
            <a:ext cx="3132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ko-KR" altLang="en-US" b="1" dirty="0">
                <a:latin typeface="+mj-lt"/>
              </a:rPr>
              <a:t>인터넷 </a:t>
            </a:r>
            <a:r>
              <a:rPr lang="ko-KR" altLang="ko-KR" b="1" dirty="0">
                <a:latin typeface="+mj-lt"/>
              </a:rPr>
              <a:t>카페</a:t>
            </a:r>
            <a:r>
              <a:rPr lang="en-US" altLang="ko-KR" b="1" dirty="0">
                <a:latin typeface="+mj-lt"/>
              </a:rPr>
              <a:t> </a:t>
            </a:r>
            <a:r>
              <a:rPr lang="ko-KR" altLang="ko-KR" b="1" dirty="0">
                <a:latin typeface="+mj-lt"/>
              </a:rPr>
              <a:t>·</a:t>
            </a:r>
            <a:r>
              <a:rPr lang="en-US" altLang="ko-KR" b="1" dirty="0">
                <a:latin typeface="+mj-lt"/>
              </a:rPr>
              <a:t> </a:t>
            </a:r>
            <a:r>
              <a:rPr lang="ko-KR" altLang="ko-KR" b="1" dirty="0">
                <a:latin typeface="+mj-lt"/>
              </a:rPr>
              <a:t>블로그의 </a:t>
            </a:r>
            <a:endParaRPr lang="en-US" altLang="ko-KR" b="1" dirty="0">
              <a:latin typeface="+mj-lt"/>
            </a:endParaRPr>
          </a:p>
          <a:p>
            <a:pPr lvl="0" algn="ctr"/>
            <a:r>
              <a:rPr lang="ko-KR" altLang="ko-KR" b="1" dirty="0">
                <a:latin typeface="+mj-lt"/>
              </a:rPr>
              <a:t>상충하는 </a:t>
            </a:r>
            <a:r>
              <a:rPr lang="ko-KR" altLang="ko-KR" b="1" dirty="0" err="1">
                <a:latin typeface="+mj-lt"/>
              </a:rPr>
              <a:t>비검증</a:t>
            </a:r>
            <a:r>
              <a:rPr lang="ko-KR" altLang="ko-KR" b="1" dirty="0">
                <a:latin typeface="+mj-lt"/>
              </a:rPr>
              <a:t> 정보</a:t>
            </a:r>
            <a:endParaRPr lang="en-US" altLang="ko-KR" b="1" dirty="0">
              <a:latin typeface="+mj-lt"/>
            </a:endParaRPr>
          </a:p>
          <a:p>
            <a:pPr lvl="0" algn="ctr"/>
            <a:r>
              <a:rPr lang="ko-KR" altLang="en-US" b="1" dirty="0">
                <a:latin typeface="+mj-lt"/>
              </a:rPr>
              <a:t>불안감 및 비신뢰에서 출발</a:t>
            </a:r>
            <a:r>
              <a:rPr lang="en-US" altLang="ko-KR" b="1" dirty="0">
                <a:latin typeface="+mj-lt"/>
              </a:rPr>
              <a:t> </a:t>
            </a:r>
            <a:r>
              <a:rPr lang="ko-KR" altLang="ko-KR" b="1" dirty="0">
                <a:latin typeface="+mj-lt"/>
              </a:rPr>
              <a:t> </a:t>
            </a:r>
            <a:endParaRPr lang="en-US" altLang="ko-KR" b="1" dirty="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A0E664-0A1B-9A65-DD1E-325A9EB45524}"/>
              </a:ext>
            </a:extLst>
          </p:cNvPr>
          <p:cNvSpPr txBox="1"/>
          <p:nvPr/>
        </p:nvSpPr>
        <p:spPr>
          <a:xfrm>
            <a:off x="832186" y="3728186"/>
            <a:ext cx="306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/>
            <a:r>
              <a:rPr lang="ko-KR" altLang="ko-KR" b="1" dirty="0">
                <a:highlight>
                  <a:srgbClr val="FFFF00"/>
                </a:highlight>
                <a:latin typeface="+mj-lt"/>
              </a:rPr>
              <a:t>"지금 병원에 가야 하는가</a:t>
            </a:r>
            <a:r>
              <a:rPr lang="en-US" altLang="ko-KR" b="1" dirty="0">
                <a:highlight>
                  <a:srgbClr val="FFFF00"/>
                </a:highlight>
                <a:latin typeface="+mj-lt"/>
              </a:rPr>
              <a:t>?</a:t>
            </a:r>
            <a:r>
              <a:rPr lang="ko-KR" altLang="ko-KR" b="1" dirty="0">
                <a:highlight>
                  <a:srgbClr val="FFFF00"/>
                </a:highlight>
                <a:latin typeface="+mj-lt"/>
              </a:rPr>
              <a:t>“</a:t>
            </a:r>
            <a:endParaRPr lang="en-US" altLang="ko-KR" b="1" dirty="0">
              <a:highlight>
                <a:srgbClr val="FFFF00"/>
              </a:highlight>
              <a:latin typeface="+mj-lt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D14B2042-8E1B-0188-6D33-51E7570AAC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2" t="38554" r="24700" b="25001"/>
          <a:stretch>
            <a:fillRect/>
          </a:stretch>
        </p:blipFill>
        <p:spPr>
          <a:xfrm>
            <a:off x="6096000" y="3157300"/>
            <a:ext cx="4831080" cy="2499356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E8883B1-0223-AA38-B538-87CAD025F9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7" t="18399" r="21745" b="59126"/>
          <a:stretch>
            <a:fillRect/>
          </a:stretch>
        </p:blipFill>
        <p:spPr>
          <a:xfrm>
            <a:off x="5745479" y="1750487"/>
            <a:ext cx="5425440" cy="1541350"/>
          </a:xfrm>
          <a:prstGeom prst="rect">
            <a:avLst/>
          </a:prstGeom>
        </p:spPr>
      </p:pic>
      <p:sp>
        <p:nvSpPr>
          <p:cNvPr id="25" name="Text 0">
            <a:extLst>
              <a:ext uri="{FF2B5EF4-FFF2-40B4-BE49-F238E27FC236}">
                <a16:creationId xmlns:a16="http://schemas.microsoft.com/office/drawing/2014/main" id="{29374606-036E-5B8E-D896-7A4ACC6AF056}"/>
              </a:ext>
            </a:extLst>
          </p:cNvPr>
          <p:cNvSpPr/>
          <p:nvPr/>
        </p:nvSpPr>
        <p:spPr>
          <a:xfrm>
            <a:off x="304799" y="152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- </a:t>
            </a:r>
            <a:r>
              <a:rPr lang="en-US" sz="3200" b="1" dirty="0" err="1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문제의식</a:t>
            </a:r>
            <a:endParaRPr lang="en-US" sz="3200" dirty="0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ED464ED9-7256-E79D-D0CB-B65AF1D656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1" t="41906" r="24761" b="23243"/>
          <a:stretch>
            <a:fillRect/>
          </a:stretch>
        </p:blipFill>
        <p:spPr>
          <a:xfrm>
            <a:off x="6096000" y="3291837"/>
            <a:ext cx="4831080" cy="2390059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DB47CAC-B06D-40FF-1731-CFFB3C873755}"/>
              </a:ext>
            </a:extLst>
          </p:cNvPr>
          <p:cNvSpPr txBox="1"/>
          <p:nvPr/>
        </p:nvSpPr>
        <p:spPr>
          <a:xfrm>
            <a:off x="7152832" y="1014547"/>
            <a:ext cx="26716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PetTriage</a:t>
            </a:r>
            <a:endParaRPr lang="en-US" altLang="ko-KR" sz="4400" dirty="0"/>
          </a:p>
        </p:txBody>
      </p:sp>
    </p:spTree>
    <p:extLst>
      <p:ext uri="{BB962C8B-B14F-4D97-AF65-F5344CB8AC3E}">
        <p14:creationId xmlns:p14="http://schemas.microsoft.com/office/powerpoint/2010/main" val="103288741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8" grpId="0"/>
      <p:bldP spid="19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B83AB-5878-26A5-3577-5CBB95EF6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AA9078DF-0559-C1F6-07B6-E65CC70D9EC5}"/>
              </a:ext>
            </a:extLst>
          </p:cNvPr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647501BF-00A7-8534-41A7-E5B4A3269531}"/>
              </a:ext>
            </a:extLst>
          </p:cNvPr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429DE88-9A52-72FA-BC29-3655E3F00299}"/>
              </a:ext>
            </a:extLst>
          </p:cNvPr>
          <p:cNvCxnSpPr>
            <a:cxnSpLocks/>
          </p:cNvCxnSpPr>
          <p:nvPr/>
        </p:nvCxnSpPr>
        <p:spPr>
          <a:xfrm>
            <a:off x="-15240" y="792480"/>
            <a:ext cx="12207240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Shape 2">
            <a:extLst>
              <a:ext uri="{FF2B5EF4-FFF2-40B4-BE49-F238E27FC236}">
                <a16:creationId xmlns:a16="http://schemas.microsoft.com/office/drawing/2014/main" id="{A22F8DAE-1497-19F0-8FFE-ADD344324734}"/>
              </a:ext>
            </a:extLst>
          </p:cNvPr>
          <p:cNvSpPr/>
          <p:nvPr/>
        </p:nvSpPr>
        <p:spPr>
          <a:xfrm>
            <a:off x="640080" y="19202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A8650B24-241F-957B-D033-5BE21832BB7E}"/>
              </a:ext>
            </a:extLst>
          </p:cNvPr>
          <p:cNvSpPr/>
          <p:nvPr/>
        </p:nvSpPr>
        <p:spPr>
          <a:xfrm>
            <a:off x="960120" y="2240280"/>
            <a:ext cx="914400" cy="411480"/>
          </a:xfrm>
          <a:prstGeom prst="roundRect">
            <a:avLst>
              <a:gd name="adj" fmla="val 44444"/>
            </a:avLst>
          </a:prstGeom>
          <a:solidFill>
            <a:srgbClr val="B3542F"/>
          </a:solidFill>
          <a:ln w="12700">
            <a:solidFill>
              <a:srgbClr val="B3542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0C6CEB2F-F39B-5B53-185E-386A423E1A08}"/>
              </a:ext>
            </a:extLst>
          </p:cNvPr>
          <p:cNvSpPr/>
          <p:nvPr/>
        </p:nvSpPr>
        <p:spPr>
          <a:xfrm>
            <a:off x="960120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</a:t>
            </a:r>
            <a:endParaRPr lang="en-US" sz="140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8EE0FA44-44A9-DAE1-A084-D474E04780F3}"/>
              </a:ext>
            </a:extLst>
          </p:cNvPr>
          <p:cNvSpPr/>
          <p:nvPr/>
        </p:nvSpPr>
        <p:spPr>
          <a:xfrm>
            <a:off x="96012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EMERGENCY</a:t>
            </a:r>
            <a:endParaRPr lang="en-US" sz="11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72F14C0E-0474-F31B-A9D3-162D739A7592}"/>
              </a:ext>
            </a:extLst>
          </p:cNvPr>
          <p:cNvSpPr/>
          <p:nvPr/>
        </p:nvSpPr>
        <p:spPr>
          <a:xfrm>
            <a:off x="96012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r>
              <a:rPr lang="en-US" sz="1400" b="1" dirty="0" err="1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바로</a:t>
            </a:r>
            <a:r>
              <a:rPr lang="en-US" sz="14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b="1" dirty="0" err="1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동물병원으로</a:t>
            </a:r>
            <a:r>
              <a:rPr lang="en-US" sz="14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40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2032748A-B2AE-EEE1-DFE3-7AA727E7F3D2}"/>
              </a:ext>
            </a:extLst>
          </p:cNvPr>
          <p:cNvSpPr/>
          <p:nvPr/>
        </p:nvSpPr>
        <p:spPr>
          <a:xfrm>
            <a:off x="3429000" y="19202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B7B733F3-F3FE-DDBD-3258-2E49895C7524}"/>
              </a:ext>
            </a:extLst>
          </p:cNvPr>
          <p:cNvSpPr/>
          <p:nvPr/>
        </p:nvSpPr>
        <p:spPr>
          <a:xfrm>
            <a:off x="3749040" y="2240280"/>
            <a:ext cx="914400" cy="411480"/>
          </a:xfrm>
          <a:prstGeom prst="roundRect">
            <a:avLst>
              <a:gd name="adj" fmla="val 44444"/>
            </a:avLst>
          </a:prstGeom>
          <a:solidFill>
            <a:srgbClr val="C98A1E"/>
          </a:solidFill>
          <a:ln w="12700">
            <a:solidFill>
              <a:srgbClr val="C98A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2C1923C6-A8D9-D60B-BB08-1597E58B4AE0}"/>
              </a:ext>
            </a:extLst>
          </p:cNvPr>
          <p:cNvSpPr/>
          <p:nvPr/>
        </p:nvSpPr>
        <p:spPr>
          <a:xfrm>
            <a:off x="3749040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</a:t>
            </a:r>
            <a:endParaRPr lang="en-US" sz="14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519C052F-64EA-0C43-3B37-2E8A2E9EA947}"/>
              </a:ext>
            </a:extLst>
          </p:cNvPr>
          <p:cNvSpPr/>
          <p:nvPr/>
        </p:nvSpPr>
        <p:spPr>
          <a:xfrm>
            <a:off x="374904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CALL_NOW</a:t>
            </a:r>
            <a:endParaRPr lang="en-US" sz="11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BB959C8F-946C-8BD6-807D-3013F33A8A6C}"/>
              </a:ext>
            </a:extLst>
          </p:cNvPr>
          <p:cNvSpPr/>
          <p:nvPr/>
        </p:nvSpPr>
        <p:spPr>
          <a:xfrm>
            <a:off x="374904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수의사에게 전화</a:t>
            </a:r>
            <a:endParaRPr lang="en-US" sz="1400" dirty="0"/>
          </a:p>
        </p:txBody>
      </p:sp>
      <p:sp>
        <p:nvSpPr>
          <p:cNvPr id="35" name="Shape 12">
            <a:extLst>
              <a:ext uri="{FF2B5EF4-FFF2-40B4-BE49-F238E27FC236}">
                <a16:creationId xmlns:a16="http://schemas.microsoft.com/office/drawing/2014/main" id="{1F56BCB2-12EB-5286-B38A-A41F276D406C}"/>
              </a:ext>
            </a:extLst>
          </p:cNvPr>
          <p:cNvSpPr/>
          <p:nvPr/>
        </p:nvSpPr>
        <p:spPr>
          <a:xfrm>
            <a:off x="6217920" y="19202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95023017-D44E-AC82-D6C1-959FCD14EF56}"/>
              </a:ext>
            </a:extLst>
          </p:cNvPr>
          <p:cNvSpPr/>
          <p:nvPr/>
        </p:nvSpPr>
        <p:spPr>
          <a:xfrm>
            <a:off x="6537960" y="2240280"/>
            <a:ext cx="914400" cy="411480"/>
          </a:xfrm>
          <a:prstGeom prst="roundRect">
            <a:avLst>
              <a:gd name="adj" fmla="val 44444"/>
            </a:avLst>
          </a:prstGeom>
          <a:solidFill>
            <a:srgbClr val="4F6B4A"/>
          </a:solidFill>
          <a:ln w="12700">
            <a:solidFill>
              <a:srgbClr val="4F6B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FA72DAB2-D665-86AB-F424-4D4D32945EEA}"/>
              </a:ext>
            </a:extLst>
          </p:cNvPr>
          <p:cNvSpPr/>
          <p:nvPr/>
        </p:nvSpPr>
        <p:spPr>
          <a:xfrm>
            <a:off x="6537960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관찰</a:t>
            </a:r>
            <a:endParaRPr lang="en-US" sz="140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2600AAAE-0B74-0710-8A5C-ACF077161DE5}"/>
              </a:ext>
            </a:extLst>
          </p:cNvPr>
          <p:cNvSpPr/>
          <p:nvPr/>
        </p:nvSpPr>
        <p:spPr>
          <a:xfrm>
            <a:off x="653796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MONITOR</a:t>
            </a:r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77FA2DBD-BB42-A08C-81E0-FC27CE7CC608}"/>
              </a:ext>
            </a:extLst>
          </p:cNvPr>
          <p:cNvSpPr/>
          <p:nvPr/>
        </p:nvSpPr>
        <p:spPr>
          <a:xfrm>
            <a:off x="653796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</a:rPr>
              <a:t>집에서 지켜보기</a:t>
            </a:r>
            <a:endParaRPr lang="en-US" sz="1400" dirty="0"/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0234E3DC-55A4-7E28-6B54-13A168FECBD6}"/>
              </a:ext>
            </a:extLst>
          </p:cNvPr>
          <p:cNvSpPr/>
          <p:nvPr/>
        </p:nvSpPr>
        <p:spPr>
          <a:xfrm>
            <a:off x="9006840" y="192024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5DFD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18">
            <a:extLst>
              <a:ext uri="{FF2B5EF4-FFF2-40B4-BE49-F238E27FC236}">
                <a16:creationId xmlns:a16="http://schemas.microsoft.com/office/drawing/2014/main" id="{DA8F640C-0A44-7F0F-26CA-C4329690AB6C}"/>
              </a:ext>
            </a:extLst>
          </p:cNvPr>
          <p:cNvSpPr/>
          <p:nvPr/>
        </p:nvSpPr>
        <p:spPr>
          <a:xfrm>
            <a:off x="9326880" y="2240280"/>
            <a:ext cx="914400" cy="411480"/>
          </a:xfrm>
          <a:prstGeom prst="roundRect">
            <a:avLst>
              <a:gd name="adj" fmla="val 44444"/>
            </a:avLst>
          </a:prstGeom>
          <a:solidFill>
            <a:srgbClr val="8B8578"/>
          </a:solidFill>
          <a:ln w="12700">
            <a:solidFill>
              <a:srgbClr val="8B85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60DB16FE-03F0-8E18-0DF6-68252A431C5F}"/>
              </a:ext>
            </a:extLst>
          </p:cNvPr>
          <p:cNvSpPr/>
          <p:nvPr/>
        </p:nvSpPr>
        <p:spPr>
          <a:xfrm>
            <a:off x="9326880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답변불가</a:t>
            </a:r>
            <a:endParaRPr lang="en-US" sz="1400" dirty="0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587502A2-7CBB-8AD4-0C43-D03CC610EA0A}"/>
              </a:ext>
            </a:extLst>
          </p:cNvPr>
          <p:cNvSpPr/>
          <p:nvPr/>
        </p:nvSpPr>
        <p:spPr>
          <a:xfrm>
            <a:off x="932688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F41933A0-E856-8FBC-9DE9-DC0FEF9D706C}"/>
              </a:ext>
            </a:extLst>
          </p:cNvPr>
          <p:cNvSpPr/>
          <p:nvPr/>
        </p:nvSpPr>
        <p:spPr>
          <a:xfrm>
            <a:off x="9326880" y="32004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b="1" dirty="0" err="1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근거없음</a:t>
            </a:r>
            <a:r>
              <a:rPr lang="ko-KR" altLang="en-US" sz="14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답변불가</a:t>
            </a:r>
            <a:endParaRPr lang="en-US" sz="1400" dirty="0"/>
          </a:p>
        </p:txBody>
      </p:sp>
      <p:sp>
        <p:nvSpPr>
          <p:cNvPr id="55" name="Text 0">
            <a:extLst>
              <a:ext uri="{FF2B5EF4-FFF2-40B4-BE49-F238E27FC236}">
                <a16:creationId xmlns:a16="http://schemas.microsoft.com/office/drawing/2014/main" id="{EA05902D-F9DD-48BF-47D3-738C351F6D76}"/>
              </a:ext>
            </a:extLst>
          </p:cNvPr>
          <p:cNvSpPr/>
          <p:nvPr/>
        </p:nvSpPr>
        <p:spPr>
          <a:xfrm>
            <a:off x="320040" y="152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- </a:t>
            </a:r>
            <a:r>
              <a:rPr lang="en-US" sz="3200" b="1" dirty="0" err="1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만들었나</a:t>
            </a:r>
            <a:endParaRPr lang="en-US" sz="3200" dirty="0"/>
          </a:p>
        </p:txBody>
      </p:sp>
      <p:sp>
        <p:nvSpPr>
          <p:cNvPr id="57" name="Text 1">
            <a:extLst>
              <a:ext uri="{FF2B5EF4-FFF2-40B4-BE49-F238E27FC236}">
                <a16:creationId xmlns:a16="http://schemas.microsoft.com/office/drawing/2014/main" id="{A01CFA5B-E2BF-B1B7-76F9-F68E1C924B2E}"/>
              </a:ext>
            </a:extLst>
          </p:cNvPr>
          <p:cNvSpPr/>
          <p:nvPr/>
        </p:nvSpPr>
        <p:spPr>
          <a:xfrm>
            <a:off x="457200" y="975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진단하지 않는다. 지금 무엇을 해야 하는지에 답한다.</a:t>
            </a:r>
            <a:endParaRPr lang="en-US" sz="1400" dirty="0"/>
          </a:p>
        </p:txBody>
      </p:sp>
      <p:sp>
        <p:nvSpPr>
          <p:cNvPr id="59" name="Shape 22">
            <a:extLst>
              <a:ext uri="{FF2B5EF4-FFF2-40B4-BE49-F238E27FC236}">
                <a16:creationId xmlns:a16="http://schemas.microsoft.com/office/drawing/2014/main" id="{38BD75A5-524C-A727-0972-3E299F6A7202}"/>
              </a:ext>
            </a:extLst>
          </p:cNvPr>
          <p:cNvSpPr/>
          <p:nvPr/>
        </p:nvSpPr>
        <p:spPr>
          <a:xfrm>
            <a:off x="640080" y="44805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E4EBE1"/>
          </a:solidFill>
          <a:ln w="12700">
            <a:solidFill>
              <a:srgbClr val="E4EB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868680" y="4773168"/>
            <a:ext cx="1042416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0">
                <a:solidFill>
                  <a:srgbClr val="2C2A26"/>
                </a:solidFill>
                <a:latin typeface="Malgun Gothic"/>
              </a:rPr>
              <a:t>이 시스템이 내놓는 것은 </a:t>
            </a:r>
            <a:r>
              <a:rPr sz="2000" b="1">
                <a:solidFill>
                  <a:srgbClr val="3A4F37"/>
                </a:solidFill>
                <a:latin typeface="Malgun Gothic"/>
              </a:rPr>
              <a:t>지식이 아니라 결정</a:t>
            </a:r>
            <a:r>
              <a:rPr sz="2000" b="0">
                <a:solidFill>
                  <a:srgbClr val="2C2A26"/>
                </a:solidFill>
                <a:latin typeface="Malgun Gothic"/>
              </a:rPr>
              <a:t>이다 — </a:t>
            </a:r>
            <a:r>
              <a:rPr sz="2000" b="1">
                <a:solidFill>
                  <a:srgbClr val="B3542F"/>
                </a:solidFill>
                <a:latin typeface="Malgun Gothic"/>
              </a:rPr>
              <a:t>근거가 없으면 결정하지 않는다</a:t>
            </a:r>
            <a:r>
              <a:rPr sz="2000" b="0">
                <a:solidFill>
                  <a:srgbClr val="2C2A26"/>
                </a:solidFill>
                <a:latin typeface="Malgun Gothi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3676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개념도3_코드와LLM분업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82768"/>
            <a:ext cx="12188952" cy="4492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E4EBE1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E4EBE1"/>
          </a:solidFill>
          <a:ln/>
        </p:spPr>
      </p:sp>
      <p:sp>
        <p:nvSpPr>
          <p:cNvPr id="4" name="Text 2"/>
          <p:cNvSpPr/>
          <p:nvPr/>
        </p:nvSpPr>
        <p:spPr>
          <a:xfrm>
            <a:off x="301752" y="1554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- </a:t>
            </a:r>
            <a:pPr indent="0" marL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— 남의 데이터를 쓰지 않았다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795528"/>
            <a:ext cx="12207240" cy="41148"/>
          </a:xfrm>
          <a:prstGeom prst="rect">
            <a:avLst/>
          </a:prstGeom>
          <a:solidFill>
            <a:srgbClr val="5BA83E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후 검증이 아니라, 수집 전 게이트를 통과시켰다 · 30개 도메인 약관 전수 확인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9184" y="13533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수집한 62건에 게이트를 적용했다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" y="1719072"/>
            <a:ext cx="562356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19072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G1a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24128" y="1719072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 금지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95728" y="1719072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artificial intelligence · train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64608" y="1837944"/>
            <a:ext cx="960120" cy="265176"/>
          </a:xfrm>
          <a:prstGeom prst="roundRect">
            <a:avLst>
              <a:gd name="adj" fmla="val 172414"/>
            </a:avLst>
          </a:prstGeom>
          <a:solidFill>
            <a:srgbClr val="B3542F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1837944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" y="2286000"/>
            <a:ext cx="562356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G1b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24128" y="228600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 금지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395728" y="2286000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robot · scrape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64608" y="2404872"/>
            <a:ext cx="960120" cy="265176"/>
          </a:xfrm>
          <a:prstGeom prst="roundRect">
            <a:avLst>
              <a:gd name="adj" fmla="val 172414"/>
            </a:avLst>
          </a:prstGeom>
          <a:solidFill>
            <a:srgbClr val="D89B3D"/>
          </a:solidFill>
          <a:ln/>
        </p:spPr>
      </p:sp>
      <p:sp>
        <p:nvSpPr>
          <p:cNvPr id="19" name="Text 17"/>
          <p:cNvSpPr/>
          <p:nvPr/>
        </p:nvSpPr>
        <p:spPr>
          <a:xfrm>
            <a:off x="4864608" y="240487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취득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" y="2852928"/>
            <a:ext cx="562356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5292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G2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24128" y="285292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복제 허락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395728" y="285292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개인·비상업 허용 문언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64608" y="2971800"/>
            <a:ext cx="960120" cy="265176"/>
          </a:xfrm>
          <a:prstGeom prst="roundRect">
            <a:avLst>
              <a:gd name="adj" fmla="val 172414"/>
            </a:avLst>
          </a:prstGeom>
          <a:solidFill>
            <a:srgbClr val="D89B3D"/>
          </a:solidFill>
          <a:ln/>
        </p:spPr>
      </p:sp>
      <p:sp>
        <p:nvSpPr>
          <p:cNvPr id="25" name="Text 23"/>
          <p:cNvSpPr/>
          <p:nvPr/>
        </p:nvSpPr>
        <p:spPr>
          <a:xfrm>
            <a:off x="4864608" y="2971800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사실추출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" y="3419856"/>
            <a:ext cx="562356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419856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24128" y="3419856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비용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395728" y="3419856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· 로그인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64608" y="3538728"/>
            <a:ext cx="960120" cy="265176"/>
          </a:xfrm>
          <a:prstGeom prst="roundRect">
            <a:avLst>
              <a:gd name="adj" fmla="val 172414"/>
            </a:avLst>
          </a:prstGeom>
          <a:solidFill>
            <a:srgbClr val="B3542F"/>
          </a:solidFill>
          <a:ln/>
        </p:spPr>
      </p:sp>
      <p:sp>
        <p:nvSpPr>
          <p:cNvPr id="31" name="Text 29"/>
          <p:cNvSpPr/>
          <p:nvPr/>
        </p:nvSpPr>
        <p:spPr>
          <a:xfrm>
            <a:off x="4864608" y="3538728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중단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0416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조건 2단계 — G4 데이터베이스권 · G5 개인정보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1353312"/>
            <a:ext cx="5596128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1353312"/>
            <a:ext cx="960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4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7443216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0" y="143560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72400" y="17190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청크 적재 가능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FDA · Frontiers CC BY · 농진청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63640" y="2359152"/>
            <a:ext cx="5596128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2359152"/>
            <a:ext cx="960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C98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</a:t>
            </a:r>
            <a:endParaRPr lang="en-US" sz="3400" dirty="0"/>
          </a:p>
        </p:txBody>
      </p:sp>
      <p:sp>
        <p:nvSpPr>
          <p:cNvPr id="40" name="Text 38"/>
          <p:cNvSpPr/>
          <p:nvPr/>
        </p:nvSpPr>
        <p:spPr>
          <a:xfrm>
            <a:off x="7443216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0" y="244144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사실추출 한정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0" y="272491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미적재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사실만 뽑아 우리 문장으로 재구성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263640" y="3364992"/>
            <a:ext cx="5596128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46520" y="3364992"/>
            <a:ext cx="960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B35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3400" dirty="0"/>
          </a:p>
        </p:txBody>
      </p:sp>
      <p:sp>
        <p:nvSpPr>
          <p:cNvPr id="45" name="Text 43"/>
          <p:cNvSpPr/>
          <p:nvPr/>
        </p:nvSpPr>
        <p:spPr>
          <a:xfrm>
            <a:off x="7443216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772400" y="344728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772400" y="37307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약관이 AI 활용 자체를 금지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SHA-256 해시로 이력만 보존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9184" y="4443984"/>
            <a:ext cx="11521440" cy="1316736"/>
          </a:xfrm>
          <a:prstGeom prst="roundRect">
            <a:avLst>
              <a:gd name="adj" fmla="val 6250"/>
            </a:avLst>
          </a:prstGeom>
          <a:solidFill>
            <a:srgbClr val="E4EBE1"/>
          </a:solidFill>
          <a:ln w="15875">
            <a:solidFill>
              <a:srgbClr val="C9D6C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459028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8건 · 사실추출 38건 — 그래서 「사실 추출」이 기본 경로가 됐다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66928" y="4956048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제약이 설계를 바꿨다.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원문을 옮기지 않고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사실만 뽑아 우리 스키마로 재구성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했다 — 그 결과 코퍼스 888청크는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우리가 만든 한국어 문장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 라이선스 문제가 사라졌고, 동시에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B35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문장화 자체가 검증 대상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되어 평가에 「층 0(데이터)」를 신설했다.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329184" y="6336792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— docs/01 데이터 수집 및 전처리 · D-29 원문 미커밋 · D-35 수집 전 게이트 · data/manifests/DELETION_LOG.csv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E4EBE1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E4EBE1"/>
          </a:solidFill>
          <a:ln/>
        </p:spPr>
      </p:sp>
      <p:sp>
        <p:nvSpPr>
          <p:cNvPr id="4" name="Text 2"/>
          <p:cNvSpPr/>
          <p:nvPr/>
        </p:nvSpPr>
        <p:spPr>
          <a:xfrm>
            <a:off x="301752" y="1554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- </a:t>
            </a:r>
            <a:pPr indent="0" marL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— 문장을 검증하지 않고 필드를 검증한다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795528"/>
            <a:ext cx="12207240" cy="41148"/>
          </a:xfrm>
          <a:prstGeom prst="rect">
            <a:avLst/>
          </a:prstGeom>
          <a:solidFill>
            <a:srgbClr val="5BA83E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→ 사실 표 → 코드가 문장 생성 → 청킹 → 벡터DB · LLM은 이 경로에 없다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9184" y="1444752"/>
            <a:ext cx="1847088" cy="1188720"/>
          </a:xfrm>
          <a:prstGeom prst="roundRect">
            <a:avLst>
              <a:gd name="adj" fmla="val 6923"/>
            </a:avLst>
          </a:prstGeom>
          <a:solidFill>
            <a:srgbClr val="E7F0F9"/>
          </a:solidFill>
          <a:ln w="15875">
            <a:solidFill>
              <a:srgbClr val="A9CB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5544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4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1883664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5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· HTML 스냅샷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76272" y="1444752"/>
            <a:ext cx="237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B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395728" y="1444752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F6F1E7"/>
          </a:solidFill>
          <a:ln w="15875">
            <a:solidFill>
              <a:srgbClr val="E3D2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95728" y="1554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8A6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표 추출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523744" y="1883664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5D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표에 옮긴다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7A5D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물질·종·역치·단위·출처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73168" y="1444752"/>
            <a:ext cx="237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B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10912" y="1444752"/>
            <a:ext cx="2377440" cy="1188720"/>
          </a:xfrm>
          <a:prstGeom prst="roundRect">
            <a:avLst>
              <a:gd name="adj" fmla="val 6923"/>
            </a:avLst>
          </a:prstGeom>
          <a:solidFill>
            <a:srgbClr val="E7F0F9"/>
          </a:solidFill>
          <a:ln w="15875">
            <a:solidFill>
              <a:srgbClr val="A9CB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1554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4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문장 생성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138928" y="1883664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5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문장을 만든다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5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verbalize.py · templates.py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88352" y="1444752"/>
            <a:ext cx="237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B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626096" y="1444752"/>
            <a:ext cx="1847088" cy="1188720"/>
          </a:xfrm>
          <a:prstGeom prst="roundRect">
            <a:avLst>
              <a:gd name="adj" fmla="val 6923"/>
            </a:avLst>
          </a:prstGeom>
          <a:solidFill>
            <a:srgbClr val="E7F0F9"/>
          </a:solidFill>
          <a:ln w="15875">
            <a:solidFill>
              <a:srgbClr val="A9CB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6096" y="155448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4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청킹 + 임베딩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754112" y="1883664"/>
            <a:ext cx="15910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5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BAAI/bge-m3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73184" y="1444752"/>
            <a:ext cx="237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7B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692640" y="1444752"/>
            <a:ext cx="2157984" cy="1188720"/>
          </a:xfrm>
          <a:prstGeom prst="roundRect">
            <a:avLst>
              <a:gd name="adj" fmla="val 6923"/>
            </a:avLst>
          </a:prstGeom>
          <a:solidFill>
            <a:srgbClr val="E7F0F9"/>
          </a:solidFill>
          <a:ln w="15875">
            <a:solidFill>
              <a:srgbClr val="A9CB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1554480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4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820656" y="1883664"/>
            <a:ext cx="1901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2C5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 888청크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95728" y="26883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하는 유일한 단계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" y="3145536"/>
            <a:ext cx="371246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" y="3291840"/>
            <a:ext cx="274320" cy="274320"/>
          </a:xfrm>
          <a:prstGeom prst="roundRect">
            <a:avLst>
              <a:gd name="adj" fmla="val 166667"/>
            </a:avLst>
          </a:prstGeom>
          <a:solidFill>
            <a:srgbClr val="4F6B4A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" y="327355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문장화를 LLM이 하지 않는다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" y="36393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템플릿으로 만든다. 같은 표에서 항상 같은 문장이 나온다 — 재현되고, 검산할 수 있다.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206240" y="3145536"/>
            <a:ext cx="371246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52544" y="3291840"/>
            <a:ext cx="274320" cy="274320"/>
          </a:xfrm>
          <a:prstGeom prst="roundRect">
            <a:avLst>
              <a:gd name="adj" fmla="val 166667"/>
            </a:avLst>
          </a:prstGeom>
          <a:solidFill>
            <a:srgbClr val="4F6B4A"/>
          </a:solidFill>
          <a:ln/>
        </p:spPr>
      </p:sp>
      <p:sp>
        <p:nvSpPr>
          <p:cNvPr id="34" name="Text 32"/>
          <p:cNvSpPr/>
          <p:nvPr/>
        </p:nvSpPr>
        <p:spPr>
          <a:xfrm>
            <a:off x="4352544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18304" y="327355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대상이 문장이 아니라 필드다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370832" y="36393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888개 문장을 사람이 읽는 대신 표의 칸을 검사한다. 검사 범위가 한 자릿수로 줄었다.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083296" y="3145536"/>
            <a:ext cx="371246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0" y="3291840"/>
            <a:ext cx="274320" cy="274320"/>
          </a:xfrm>
          <a:prstGeom prst="roundRect">
            <a:avLst>
              <a:gd name="adj" fmla="val 166667"/>
            </a:avLst>
          </a:prstGeom>
          <a:solidFill>
            <a:srgbClr val="4F6B4A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95360" y="327355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출처가 끝까지 따라온다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247888" y="36393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문장마다 fact_id·source_id가 붙어 있어, 답변의 어느 문장이 어느 자료에서 왔는지 되짚을 수 있다.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329184" y="4663440"/>
            <a:ext cx="11521440" cy="1115568"/>
          </a:xfrm>
          <a:prstGeom prst="roundRect">
            <a:avLst>
              <a:gd name="adj" fmla="val 7377"/>
            </a:avLst>
          </a:prstGeom>
          <a:solidFill>
            <a:srgbClr val="3A4F37"/>
          </a:solidFill>
          <a:ln w="15875">
            <a:solidFill>
              <a:srgbClr val="3A4F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6928" y="47914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“원문을 옮기지 않는다. 사실을 옮기고 출처를 밝힌다.”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66928" y="519379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5E2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표 888행 · 45출처   →   코드가 문장화 (LLM 아님)   →   벡터DB 888청크   ·   층 0(데이터) 지표로 문장화 충실도를 따로 잰다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29184" y="6336792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— docs/01e 사실표 작성지침 · D-37 사실 표는 우리 산출물 · D-38 문장화는 코드가 한다 · src/pettriage/ingest/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E4EBE1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E4EBE1"/>
          </a:solidFill>
          <a:ln/>
        </p:spPr>
      </p:sp>
      <p:sp>
        <p:nvSpPr>
          <p:cNvPr id="4" name="Text 2"/>
          <p:cNvSpPr/>
          <p:nvPr/>
        </p:nvSpPr>
        <p:spPr>
          <a:xfrm>
            <a:off x="301752" y="1554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- </a:t>
            </a:r>
            <a:pPr indent="0" marL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기술 — 왜 이것을 골랐나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795528"/>
            <a:ext cx="12207240" cy="41148"/>
          </a:xfrm>
          <a:prstGeom prst="rect">
            <a:avLst/>
          </a:prstGeom>
          <a:solidFill>
            <a:srgbClr val="5BA83E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기술을 나열하지 않는다. 각각이 어떤 문제를 풀려고 들어왔는지 함께 적는다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9184" y="1371600"/>
            <a:ext cx="3712464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1517904"/>
            <a:ext cx="1481328" cy="274320"/>
          </a:xfrm>
          <a:prstGeom prst="roundRect">
            <a:avLst>
              <a:gd name="adj" fmla="val 166667"/>
            </a:avLst>
          </a:prstGeom>
          <a:solidFill>
            <a:srgbClr val="4F6B4A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151790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오케스트레이션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3776" y="18470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3776" y="2249424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분기와 순환(retry → retrieve)이 필요했다.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18개를 StateGraph로 조립한다.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3712464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517904"/>
            <a:ext cx="1481328" cy="274320"/>
          </a:xfrm>
          <a:prstGeom prst="roundRect">
            <a:avLst>
              <a:gd name="adj" fmla="val 166667"/>
            </a:avLst>
          </a:prstGeom>
          <a:solidFill>
            <a:srgbClr val="4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4370832" y="151790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연동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70832" y="18470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LangChain (ChatOpenAI)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370832" y="2249424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연동에만 쓰고 벡터DB는 직접 다룬다.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프로토콜 뒤에서 설정 한 줄로 교체된다.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83296" y="1371600"/>
            <a:ext cx="3712464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1517904"/>
            <a:ext cx="1481328" cy="274320"/>
          </a:xfrm>
          <a:prstGeom prst="roundRect">
            <a:avLst>
              <a:gd name="adj" fmla="val 166667"/>
            </a:avLst>
          </a:prstGeom>
          <a:solidFill>
            <a:srgbClr val="4F6B4A"/>
          </a:solidFill>
          <a:ln/>
        </p:spPr>
      </p:sp>
      <p:sp>
        <p:nvSpPr>
          <p:cNvPr id="19" name="Text 17"/>
          <p:cNvSpPr/>
          <p:nvPr/>
        </p:nvSpPr>
        <p:spPr>
          <a:xfrm>
            <a:off x="8247888" y="151790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DB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47888" y="18470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 · 888청크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47888" y="2249424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파일 기반이라 팀원이 각자 만든다.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인덱스는 커밋하지 않는다.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" y="2944368"/>
            <a:ext cx="3712464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" y="3090672"/>
            <a:ext cx="1481328" cy="274320"/>
          </a:xfrm>
          <a:prstGeom prst="roundRect">
            <a:avLst>
              <a:gd name="adj" fmla="val 166667"/>
            </a:avLst>
          </a:prstGeom>
          <a:solidFill>
            <a:srgbClr val="C98A1E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" y="309067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" y="3419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BAAI/bge-m3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93776" y="382219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코퍼스를 한국어 문장으로 만들었으므로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임베딩이 필요했다.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06240" y="2944368"/>
            <a:ext cx="3712464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70832" y="3090672"/>
            <a:ext cx="1481328" cy="274320"/>
          </a:xfrm>
          <a:prstGeom prst="roundRect">
            <a:avLst>
              <a:gd name="adj" fmla="val 166667"/>
            </a:avLst>
          </a:prstGeom>
          <a:solidFill>
            <a:srgbClr val="C98A1E"/>
          </a:solidFill>
          <a:ln/>
        </p:spPr>
      </p:sp>
      <p:sp>
        <p:nvSpPr>
          <p:cNvPr id="29" name="Text 27"/>
          <p:cNvSpPr/>
          <p:nvPr/>
        </p:nvSpPr>
        <p:spPr>
          <a:xfrm>
            <a:off x="4370832" y="309067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70832" y="3419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Qwen3-4B QLoRA(4bit)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gpt-4o-mini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370832" y="382219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파인튜닝이 실패해도 시연은 남도록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LLM 폴백 경로를 프로토콜 뒤에 유지했다.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83296" y="2944368"/>
            <a:ext cx="3712464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47888" y="3090672"/>
            <a:ext cx="1481328" cy="274320"/>
          </a:xfrm>
          <a:prstGeom prst="roundRect">
            <a:avLst>
              <a:gd name="adj" fmla="val 166667"/>
            </a:avLst>
          </a:prstGeom>
          <a:solidFill>
            <a:srgbClr val="6B6558"/>
          </a:solidFill>
          <a:ln/>
        </p:spPr>
      </p:sp>
      <p:sp>
        <p:nvSpPr>
          <p:cNvPr id="34" name="Text 32"/>
          <p:cNvSpPr/>
          <p:nvPr/>
        </p:nvSpPr>
        <p:spPr>
          <a:xfrm>
            <a:off x="8247888" y="309067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· DB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47888" y="3419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· Pydantic v2</a:t>
            </a:r>
            <a:endParaRPr lang="en-US" sz="13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· SQLAlchemy · JWT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247888" y="3822192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불변식을 문서가 아니라 스키마로 강제한다.</a:t>
            </a:r>
            <a:endParaRPr lang="en-US" sz="1050" dirty="0"/>
          </a:p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계약을 어기면 응답 객체가 만들어지지 않는다.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9184" y="4553712"/>
            <a:ext cx="11521440" cy="1225296"/>
          </a:xfrm>
          <a:prstGeom prst="roundRect">
            <a:avLst>
              <a:gd name="adj" fmla="val 6716"/>
            </a:avLst>
          </a:prstGeom>
          <a:solidFill>
            <a:srgbClr val="E4EBE1"/>
          </a:solidFill>
          <a:ln w="15875">
            <a:solidFill>
              <a:srgbClr val="C9D6C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468172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산출물 — LangChain 연동은 「동작」으로 증명했다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6928" y="5047488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모델을 ①OpenAI SDK로 직접 부른 판과 ②LangChain으로 부른 판을 따로 측정했다.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39/60으로 같고 실패 21건의 문제 번호까지 동일하다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배선만 된 것이 아니라 같은 판단을 같은 자리에서 낸다.   ·   Python 3.11 · constraints.txt로 버전 고정 · pytest 585 통과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329184" y="6336792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— D-64 랭그래프 도입 · D-71 LangChain 사용 범위 · D-42 베이스 sLLM · eval/reports/D1_lc.json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E4EBE1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E4EBE1"/>
          </a:solidFill>
          <a:ln/>
        </p:spPr>
      </p:sp>
      <p:sp>
        <p:nvSpPr>
          <p:cNvPr id="4" name="Text 2"/>
          <p:cNvSpPr/>
          <p:nvPr/>
        </p:nvSpPr>
        <p:spPr>
          <a:xfrm>
            <a:off x="301752" y="1554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- </a:t>
            </a:r>
            <a:pPr indent="0" marL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설계 — 저장소마다 담는 것이 다르다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795528"/>
            <a:ext cx="12207240" cy="41148"/>
          </a:xfrm>
          <a:prstGeom prst="rect">
            <a:avLst/>
          </a:prstGeom>
          <a:solidFill>
            <a:srgbClr val="5BA83E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6장 · 정적 HTML · API와 같은 출처에서 서빙 · 계약의 단일 출처는 contracts.py 하나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9184" y="1353312"/>
            <a:ext cx="3712464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1481328"/>
            <a:ext cx="1481328" cy="274320"/>
          </a:xfrm>
          <a:prstGeom prst="roundRect">
            <a:avLst>
              <a:gd name="adj" fmla="val 166667"/>
            </a:avLst>
          </a:prstGeom>
          <a:solidFill>
            <a:srgbClr val="1F6FB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14813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84832" y="1463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· 반려동물 프로필 · 다이어리 · 대화 이력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" y="18288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ORM (SQLAlchemy)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06240" y="1353312"/>
            <a:ext cx="3712464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481328"/>
            <a:ext cx="1481328" cy="274320"/>
          </a:xfrm>
          <a:prstGeom prst="roundRect">
            <a:avLst>
              <a:gd name="adj" fmla="val 166667"/>
            </a:avLst>
          </a:prstGeom>
          <a:solidFill>
            <a:srgbClr val="B3542F"/>
          </a:solidFill>
          <a:ln/>
        </p:spPr>
      </p:sp>
      <p:sp>
        <p:nvSpPr>
          <p:cNvPr id="14" name="Text 12"/>
          <p:cNvSpPr/>
          <p:nvPr/>
        </p:nvSpPr>
        <p:spPr>
          <a:xfrm>
            <a:off x="4370832" y="14813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61888" y="1463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공적 자료 문장화 청크 888개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70832" y="18288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83296" y="1353312"/>
            <a:ext cx="3712464" cy="969264"/>
          </a:xfrm>
          <a:prstGeom prst="roundRect">
            <a:avLst>
              <a:gd name="adj" fmla="val 8491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1481328"/>
            <a:ext cx="1481328" cy="274320"/>
          </a:xfrm>
          <a:prstGeom prst="roundRect">
            <a:avLst>
              <a:gd name="adj" fmla="val 166667"/>
            </a:avLst>
          </a:prstGeom>
          <a:solidFill>
            <a:srgbClr val="4F6B4A"/>
          </a:solidFill>
          <a:ln/>
        </p:spPr>
      </p:sp>
      <p:sp>
        <p:nvSpPr>
          <p:cNvPr id="19" name="Text 17"/>
          <p:cNvSpPr/>
          <p:nvPr/>
        </p:nvSpPr>
        <p:spPr>
          <a:xfrm>
            <a:off x="8247888" y="148132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compute/tables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38944" y="1463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 임계치 · 정성 등급 · 별칭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47888" y="18288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(생성물)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29184" y="2359152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저장소가 서로를 대신하지 않는다 — MySQL이 원본, 벡터DB는 인덱스, 규칙 표는 계산의 입력이다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" y="2761488"/>
            <a:ext cx="274320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" y="2761488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3A4F37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" y="2761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계정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261872" y="3291840"/>
            <a:ext cx="877824" cy="237744"/>
          </a:xfrm>
          <a:prstGeom prst="roundRect">
            <a:avLst>
              <a:gd name="adj" fmla="val 192308"/>
            </a:avLst>
          </a:prstGeom>
          <a:solidFill>
            <a:srgbClr val="1F6FB5"/>
          </a:solidFill>
          <a:ln/>
        </p:spPr>
      </p:sp>
      <p:sp>
        <p:nvSpPr>
          <p:cNvPr id="27" name="Text 25"/>
          <p:cNvSpPr/>
          <p:nvPr/>
        </p:nvSpPr>
        <p:spPr>
          <a:xfrm>
            <a:off x="1261872" y="329184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5488" y="362102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POST /api/auth/signup · login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475488" y="40233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bcrypt 해시 + JWT 발급</a:t>
            </a:r>
            <a:endParaRPr lang="en-US" sz="1030" dirty="0"/>
          </a:p>
        </p:txBody>
      </p:sp>
      <p:sp>
        <p:nvSpPr>
          <p:cNvPr id="30" name="Text 28"/>
          <p:cNvSpPr/>
          <p:nvPr/>
        </p:nvSpPr>
        <p:spPr>
          <a:xfrm>
            <a:off x="475488" y="44256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GET /api/users/me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3236976" y="2761488"/>
            <a:ext cx="274320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36976" y="2761488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3A4F37"/>
          </a:solidFill>
          <a:ln/>
        </p:spPr>
      </p:sp>
      <p:sp>
        <p:nvSpPr>
          <p:cNvPr id="33" name="Text 31"/>
          <p:cNvSpPr/>
          <p:nvPr/>
        </p:nvSpPr>
        <p:spPr>
          <a:xfrm>
            <a:off x="3236976" y="2761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 프로필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169664" y="3291840"/>
            <a:ext cx="877824" cy="237744"/>
          </a:xfrm>
          <a:prstGeom prst="roundRect">
            <a:avLst>
              <a:gd name="adj" fmla="val 192308"/>
            </a:avLst>
          </a:prstGeom>
          <a:solidFill>
            <a:srgbClr val="1F6FB5"/>
          </a:solidFill>
          <a:ln/>
        </p:spPr>
      </p:sp>
      <p:sp>
        <p:nvSpPr>
          <p:cNvPr id="35" name="Text 33"/>
          <p:cNvSpPr/>
          <p:nvPr/>
        </p:nvSpPr>
        <p:spPr>
          <a:xfrm>
            <a:off x="4169664" y="329184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83280" y="362102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POST · GET /api/pets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3383280" y="40233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PATCH · DELETE /api/pets/{id}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3383280" y="44256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0개 → 생성 / 1개 → 자동 선택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6144768" y="2761488"/>
            <a:ext cx="274320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44768" y="2761488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3A4F37"/>
          </a:solidFill>
          <a:ln/>
        </p:spPr>
      </p:sp>
      <p:sp>
        <p:nvSpPr>
          <p:cNvPr id="41" name="Text 39"/>
          <p:cNvSpPr/>
          <p:nvPr/>
        </p:nvSpPr>
        <p:spPr>
          <a:xfrm>
            <a:off x="6144768" y="2761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(질의응답)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077456" y="3291840"/>
            <a:ext cx="877824" cy="237744"/>
          </a:xfrm>
          <a:prstGeom prst="roundRect">
            <a:avLst>
              <a:gd name="adj" fmla="val 192308"/>
            </a:avLst>
          </a:prstGeom>
          <a:solidFill>
            <a:srgbClr val="B3542F"/>
          </a:solidFill>
          <a:ln/>
        </p:spPr>
      </p:sp>
      <p:sp>
        <p:nvSpPr>
          <p:cNvPr id="43" name="Text 41"/>
          <p:cNvSpPr/>
          <p:nvPr/>
        </p:nvSpPr>
        <p:spPr>
          <a:xfrm>
            <a:off x="7077456" y="329184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ChromaDB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91072" y="362102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POST /api/ask</a:t>
            </a:r>
            <a:endParaRPr lang="en-US" sz="1030" dirty="0"/>
          </a:p>
        </p:txBody>
      </p:sp>
      <p:sp>
        <p:nvSpPr>
          <p:cNvPr id="45" name="Text 43"/>
          <p:cNvSpPr/>
          <p:nvPr/>
        </p:nvSpPr>
        <p:spPr>
          <a:xfrm>
            <a:off x="6291072" y="40233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RAG + 규칙 계산 + 판정</a:t>
            </a:r>
            <a:endParaRPr lang="en-US" sz="1030" dirty="0"/>
          </a:p>
        </p:txBody>
      </p:sp>
      <p:sp>
        <p:nvSpPr>
          <p:cNvPr id="46" name="Text 44"/>
          <p:cNvSpPr/>
          <p:nvPr/>
        </p:nvSpPr>
        <p:spPr>
          <a:xfrm>
            <a:off x="6291072" y="44256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answered · clarify · refused</a:t>
            </a:r>
            <a:endParaRPr lang="en-US" sz="1030" dirty="0"/>
          </a:p>
        </p:txBody>
      </p:sp>
      <p:sp>
        <p:nvSpPr>
          <p:cNvPr id="47" name="Shape 45"/>
          <p:cNvSpPr/>
          <p:nvPr/>
        </p:nvSpPr>
        <p:spPr>
          <a:xfrm>
            <a:off x="9052560" y="2761488"/>
            <a:ext cx="274320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52560" y="2761488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3A4F37"/>
          </a:solidFill>
          <a:ln/>
        </p:spPr>
      </p:sp>
      <p:sp>
        <p:nvSpPr>
          <p:cNvPr id="49" name="Text 47"/>
          <p:cNvSpPr/>
          <p:nvPr/>
        </p:nvSpPr>
        <p:spPr>
          <a:xfrm>
            <a:off x="9052560" y="2761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다이어리 · 리포트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985248" y="3291840"/>
            <a:ext cx="877824" cy="237744"/>
          </a:xfrm>
          <a:prstGeom prst="roundRect">
            <a:avLst>
              <a:gd name="adj" fmla="val 192308"/>
            </a:avLst>
          </a:prstGeom>
          <a:solidFill>
            <a:srgbClr val="1F6FB5"/>
          </a:solidFill>
          <a:ln/>
        </p:spPr>
      </p:sp>
      <p:sp>
        <p:nvSpPr>
          <p:cNvPr id="51" name="Text 49"/>
          <p:cNvSpPr/>
          <p:nvPr/>
        </p:nvSpPr>
        <p:spPr>
          <a:xfrm>
            <a:off x="9985248" y="329184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198864" y="362102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POST /api/records (하루 1건)</a:t>
            </a:r>
            <a:endParaRPr lang="en-US" sz="1030" dirty="0"/>
          </a:p>
        </p:txBody>
      </p:sp>
      <p:sp>
        <p:nvSpPr>
          <p:cNvPr id="53" name="Text 51"/>
          <p:cNvSpPr/>
          <p:nvPr/>
        </p:nvSpPr>
        <p:spPr>
          <a:xfrm>
            <a:off x="9198864" y="402336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GET /api/report — 기간 집계</a:t>
            </a:r>
            <a:endParaRPr lang="en-US" sz="1030" dirty="0"/>
          </a:p>
        </p:txBody>
      </p:sp>
      <p:sp>
        <p:nvSpPr>
          <p:cNvPr id="54" name="Text 52"/>
          <p:cNvSpPr/>
          <p:nvPr/>
        </p:nvSpPr>
        <p:spPr>
          <a:xfrm>
            <a:off x="9198864" y="44256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병원 제출용 요약 조립</a:t>
            </a:r>
            <a:endParaRPr lang="en-US" sz="1030" dirty="0"/>
          </a:p>
        </p:txBody>
      </p:sp>
      <p:sp>
        <p:nvSpPr>
          <p:cNvPr id="55" name="Shape 53"/>
          <p:cNvSpPr/>
          <p:nvPr/>
        </p:nvSpPr>
        <p:spPr>
          <a:xfrm>
            <a:off x="329184" y="4992624"/>
            <a:ext cx="11521440" cy="786384"/>
          </a:xfrm>
          <a:prstGeom prst="roundRect">
            <a:avLst>
              <a:gd name="adj" fmla="val 10465"/>
            </a:avLst>
          </a:prstGeom>
          <a:solidFill>
            <a:srgbClr val="E4EBE1"/>
          </a:solidFill>
          <a:ln w="15875">
            <a:solidFill>
              <a:srgbClr val="C9D6C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" y="5102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소유자 확인을 두 단계로 한다 —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Bearer 토큰 → user_id  ② (pet_id, user_id)가 맞는 pet이 있는가. 없으면 404 —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것도 404로 답해 존재 여부를 흘리지 않는다.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329184" y="6336792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— docs/02 §12 계약 · D-48 MySQL 확정 · D-52 프로필 참조 방식 · D-92 다이어리 하루 1건 · src/pettriage/app/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E4EBE1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E4EBE1"/>
          </a:solidFill>
          <a:ln/>
        </p:spPr>
      </p:sp>
      <p:sp>
        <p:nvSpPr>
          <p:cNvPr id="4" name="Text 2"/>
          <p:cNvSpPr/>
          <p:nvPr/>
        </p:nvSpPr>
        <p:spPr>
          <a:xfrm>
            <a:off x="301752" y="1554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- </a:t>
            </a:r>
            <a:pPr indent="0" marL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파이프라인 — 수치는 코드가, 문장은 LLM이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795528"/>
            <a:ext cx="12207240" cy="41148"/>
          </a:xfrm>
          <a:prstGeom prst="rect">
            <a:avLst/>
          </a:prstGeom>
          <a:solidFill>
            <a:srgbClr val="5BA83E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/api/ask — LangGraph가 노드 18개를 조율한다 · 아래는 성공 경로 9단계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9184" y="1316736"/>
            <a:ext cx="11521440" cy="274320"/>
          </a:xfrm>
          <a:prstGeom prst="roundRect">
            <a:avLst>
              <a:gd name="adj" fmla="val 50000"/>
            </a:avLst>
          </a:prstGeom>
          <a:solidFill>
            <a:srgbClr val="EFEFEA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" y="1316736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가 전체를 조율한다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719072"/>
            <a:ext cx="1188720" cy="1170432"/>
          </a:xfrm>
          <a:prstGeom prst="roundRect">
            <a:avLst>
              <a:gd name="adj" fmla="val 7031"/>
            </a:avLst>
          </a:prstGeom>
          <a:solidFill>
            <a:srgbClr val="FBF0E6"/>
          </a:solidFill>
          <a:ln w="15875">
            <a:solidFill>
              <a:srgbClr val="EBC7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7922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8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9184" y="2011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4A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2340864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85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묻는가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07008" y="17556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17904" y="1719072"/>
            <a:ext cx="1051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B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23060" y="1719072"/>
            <a:ext cx="1188720" cy="1170432"/>
          </a:xfrm>
          <a:prstGeom prst="roundRect">
            <a:avLst>
              <a:gd name="adj" fmla="val 7031"/>
            </a:avLst>
          </a:prstGeom>
          <a:solidFill>
            <a:srgbClr val="FBF0E6"/>
          </a:solidFill>
          <a:ln w="15875">
            <a:solidFill>
              <a:srgbClr val="EBC7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23060" y="17922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8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3060" y="2011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4A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77924" y="2340864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85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종·체중·물질·양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00884" y="17556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11780" y="1719072"/>
            <a:ext cx="1051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B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916936" y="1719072"/>
            <a:ext cx="1188720" cy="1170432"/>
          </a:xfrm>
          <a:prstGeom prst="roundRect">
            <a:avLst>
              <a:gd name="adj" fmla="val 7031"/>
            </a:avLst>
          </a:prstGeom>
          <a:solidFill>
            <a:srgbClr val="E7F0F9"/>
          </a:solidFill>
          <a:ln w="15875">
            <a:solidFill>
              <a:srgbClr val="A9CB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16936" y="17922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8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16936" y="2011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71800" y="2340864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C5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벡터DB 근거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05656" y="1719072"/>
            <a:ext cx="1051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B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10812" y="1719072"/>
            <a:ext cx="1188720" cy="1170432"/>
          </a:xfrm>
          <a:prstGeom prst="roundRect">
            <a:avLst>
              <a:gd name="adj" fmla="val 7031"/>
            </a:avLst>
          </a:prstGeom>
          <a:solidFill>
            <a:srgbClr val="E7F0F9"/>
          </a:solidFill>
          <a:ln w="15875">
            <a:solidFill>
              <a:srgbClr val="A9CB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10812" y="17922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8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210812" y="2011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compute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65676" y="2340864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C5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mg/kg 환산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99532" y="1719072"/>
            <a:ext cx="1051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B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504688" y="1719072"/>
            <a:ext cx="1188720" cy="1170432"/>
          </a:xfrm>
          <a:prstGeom prst="roundRect">
            <a:avLst>
              <a:gd name="adj" fmla="val 7031"/>
            </a:avLst>
          </a:prstGeom>
          <a:solidFill>
            <a:srgbClr val="E7F0F9"/>
          </a:solidFill>
          <a:ln w="15875">
            <a:solidFill>
              <a:srgbClr val="A9CB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4688" y="17922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8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04688" y="2011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59552" y="2340864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C5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바닥 등급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82512" y="17556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93408" y="1719072"/>
            <a:ext cx="1051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B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798564" y="1719072"/>
            <a:ext cx="1188720" cy="1170432"/>
          </a:xfrm>
          <a:prstGeom prst="roundRect">
            <a:avLst>
              <a:gd name="adj" fmla="val 7031"/>
            </a:avLst>
          </a:prstGeom>
          <a:solidFill>
            <a:srgbClr val="FBF0E6"/>
          </a:solidFill>
          <a:ln w="15875">
            <a:solidFill>
              <a:srgbClr val="EBC79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98564" y="17922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8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798564" y="2011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4A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53428" y="2340864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85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초안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987284" y="1719072"/>
            <a:ext cx="1051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B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092440" y="1719072"/>
            <a:ext cx="1188720" cy="1170432"/>
          </a:xfrm>
          <a:prstGeom prst="roundRect">
            <a:avLst>
              <a:gd name="adj" fmla="val 7031"/>
            </a:avLst>
          </a:prstGeom>
          <a:solidFill>
            <a:srgbClr val="FBF0E6"/>
          </a:solidFill>
          <a:ln w="15875">
            <a:solidFill>
              <a:srgbClr val="EBC79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92440" y="17922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8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092440" y="2011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4A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judge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147304" y="2340864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85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등급 제안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281160" y="1719072"/>
            <a:ext cx="1051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B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386316" y="1719072"/>
            <a:ext cx="1188720" cy="1170432"/>
          </a:xfrm>
          <a:prstGeom prst="roundRect">
            <a:avLst>
              <a:gd name="adj" fmla="val 7031"/>
            </a:avLst>
          </a:prstGeom>
          <a:solidFill>
            <a:srgbClr val="E7F0F9"/>
          </a:solidFill>
          <a:ln w="15875">
            <a:solidFill>
              <a:srgbClr val="A9CBE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86316" y="17922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86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386316" y="2011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9441180" y="2340864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2C5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max(rule, llm)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264140" y="17556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575036" y="1719072"/>
            <a:ext cx="1051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B3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10680192" y="1719072"/>
            <a:ext cx="1188720" cy="1170432"/>
          </a:xfrm>
          <a:prstGeom prst="roundRect">
            <a:avLst>
              <a:gd name="adj" fmla="val 7031"/>
            </a:avLst>
          </a:prstGeom>
          <a:solidFill>
            <a:srgbClr val="FBF0E6"/>
          </a:solidFill>
          <a:ln w="15875">
            <a:solidFill>
              <a:srgbClr val="EBC79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680192" y="17922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8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680192" y="20116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4A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simplify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0735056" y="2340864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985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표현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1558016" y="175564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29184" y="2980944"/>
            <a:ext cx="2482596" cy="365760"/>
          </a:xfrm>
          <a:prstGeom prst="roundRect">
            <a:avLst>
              <a:gd name="adj" fmla="val 20000"/>
            </a:avLst>
          </a:prstGeom>
          <a:solidFill>
            <a:srgbClr val="FBF0E6"/>
          </a:solidFill>
          <a:ln w="12700">
            <a:solidFill>
              <a:srgbClr val="EBC79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184" y="2980944"/>
            <a:ext cx="2482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4A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말을 알아듣는다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2916936" y="2980944"/>
            <a:ext cx="3726180" cy="365760"/>
          </a:xfrm>
          <a:prstGeom prst="roundRect">
            <a:avLst>
              <a:gd name="adj" fmla="val 20000"/>
            </a:avLst>
          </a:prstGeom>
          <a:solidFill>
            <a:srgbClr val="E7F0F9"/>
          </a:solidFill>
          <a:ln w="12700">
            <a:solidFill>
              <a:srgbClr val="A9CB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16936" y="2980944"/>
            <a:ext cx="3726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등급을 정하는 계산에 LLM이 없다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748272" y="2980944"/>
            <a:ext cx="2482596" cy="365760"/>
          </a:xfrm>
          <a:prstGeom prst="roundRect">
            <a:avLst>
              <a:gd name="adj" fmla="val 20000"/>
            </a:avLst>
          </a:prstGeom>
          <a:solidFill>
            <a:srgbClr val="FBF0E6"/>
          </a:solidFill>
          <a:ln w="12700">
            <a:solidFill>
              <a:srgbClr val="EBC79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48272" y="2980944"/>
            <a:ext cx="2482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4A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말을 만든다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9336024" y="2980944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E7F0F9"/>
          </a:solidFill>
          <a:ln w="12700">
            <a:solidFill>
              <a:srgbClr val="A9CB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36024" y="29809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확정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10634472" y="2980944"/>
            <a:ext cx="1216152" cy="365760"/>
          </a:xfrm>
          <a:prstGeom prst="roundRect">
            <a:avLst>
              <a:gd name="adj" fmla="val 20000"/>
            </a:avLst>
          </a:prstGeom>
          <a:solidFill>
            <a:srgbClr val="FBF0E6"/>
          </a:solidFill>
          <a:ln w="12700">
            <a:solidFill>
              <a:srgbClr val="EBC79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634472" y="2980944"/>
            <a:ext cx="1216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4A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다듬는다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329184" y="3602736"/>
            <a:ext cx="3712464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5875">
            <a:solidFill>
              <a:srgbClr val="3A4F3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9184" y="3675888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answered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329184" y="3968496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찾아 판정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206240" y="3602736"/>
            <a:ext cx="3712464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5875">
            <a:solidFill>
              <a:srgbClr val="C98A1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06240" y="3675888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8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clarify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4206240" y="3968496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슬롯이 비어 되묻기 (최대 2회)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8083296" y="3602736"/>
            <a:ext cx="3712464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5875">
            <a:solidFill>
              <a:srgbClr val="6B655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83296" y="3675888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refused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8083296" y="3968496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근거없음 · 범위 밖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329184" y="4480560"/>
            <a:ext cx="11521440" cy="420624"/>
          </a:xfrm>
          <a:prstGeom prst="roundRect">
            <a:avLst>
              <a:gd name="adj" fmla="val 19565"/>
            </a:avLst>
          </a:prstGeom>
          <a:solidFill>
            <a:srgbClr val="3A4F37"/>
          </a:solidFill>
          <a:ln w="15875">
            <a:solidFill>
              <a:srgbClr val="3A4F3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9184" y="4480560"/>
            <a:ext cx="11521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상태 모두 HTTP 200 — 거절은 장애가 아니라 설계된 경로다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329184" y="5029200"/>
            <a:ext cx="11521440" cy="786384"/>
          </a:xfrm>
          <a:prstGeom prst="roundRect">
            <a:avLst>
              <a:gd name="adj" fmla="val 10465"/>
            </a:avLst>
          </a:prstGeom>
          <a:solidFill>
            <a:srgbClr val="E4EBE1"/>
          </a:solidFill>
          <a:ln w="15875">
            <a:solidFill>
              <a:srgbClr val="C9D6C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6928" y="513892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실측이 이 분업을 확인했다 —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양이 있는 질문 15건은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규칙만으로 통과 93.3%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 LLM을 붙여도 그대로다. 반대로 LLM이 값을 낸 곳은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밖 거절(+6건) · 사실 질의(+3건) · 증상(+2건)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전부 말이 필요한 자리다.</a:t>
            </a:r>
            <a:endParaRPr lang="en-US" sz="1250" dirty="0"/>
          </a:p>
        </p:txBody>
      </p:sp>
      <p:sp>
        <p:nvSpPr>
          <p:cNvPr id="81" name="Text 79"/>
          <p:cNvSpPr/>
          <p:nvPr/>
        </p:nvSpPr>
        <p:spPr>
          <a:xfrm>
            <a:off x="329184" y="6336792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안전 장치가 걸린 단계   ·   근거 — src/pettriage/graph/build.py 노드 18개 · docs/05 두 축 · 결과 보고서 §3.8 유형별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E4EBE1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E4EBE1"/>
          </a:solidFill>
          <a:ln/>
        </p:spPr>
      </p:sp>
      <p:sp>
        <p:nvSpPr>
          <p:cNvPr id="4" name="Text 2"/>
          <p:cNvSpPr/>
          <p:nvPr/>
        </p:nvSpPr>
        <p:spPr>
          <a:xfrm>
            <a:off x="301752" y="1554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- </a:t>
            </a:r>
            <a:pPr indent="0" marL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구조 — 등급은 추측하지 않는다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795528"/>
            <a:ext cx="12207240" cy="41148"/>
          </a:xfrm>
          <a:prstGeom prst="rect">
            <a:avLst/>
          </a:prstGeom>
          <a:solidFill>
            <a:srgbClr val="5BA83E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4단계를 우리가 정하지 않았다 · 바닥은 표에서 오고 · 게이트가 세 가지를 강제한다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9184" y="1298448"/>
            <a:ext cx="274320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5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05840" y="1463040"/>
            <a:ext cx="713232" cy="274320"/>
          </a:xfrm>
          <a:prstGeom prst="roundRect">
            <a:avLst>
              <a:gd name="adj" fmla="val 166667"/>
            </a:avLst>
          </a:prstGeom>
          <a:solidFill>
            <a:srgbClr val="B3542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463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88366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동물병원으로 가세요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2311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S-038  “…straight to the nearest ER.”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36976" y="1298448"/>
            <a:ext cx="274320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8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3913632" y="1463040"/>
            <a:ext cx="713232" cy="274320"/>
          </a:xfrm>
          <a:prstGeom prst="roundRect">
            <a:avLst>
              <a:gd name="adj" fmla="val 166667"/>
            </a:avLst>
          </a:prstGeom>
          <a:solidFill>
            <a:srgbClr val="C98A1E"/>
          </a:solidFill>
          <a:ln/>
        </p:spPr>
      </p:sp>
      <p:sp>
        <p:nvSpPr>
          <p:cNvPr id="16" name="Text 14"/>
          <p:cNvSpPr/>
          <p:nvPr/>
        </p:nvSpPr>
        <p:spPr>
          <a:xfrm>
            <a:off x="3913632" y="1463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188366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수의사에게 전화해 상태를 알리세요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64992" y="22311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S-086  “call your veterinarian to discuss…”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44768" y="1298448"/>
            <a:ext cx="274320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6821424" y="1463040"/>
            <a:ext cx="713232" cy="274320"/>
          </a:xfrm>
          <a:prstGeom prst="roundRect">
            <a:avLst>
              <a:gd name="adj" fmla="val 166667"/>
            </a:avLst>
          </a:prstGeom>
          <a:solidFill>
            <a:srgbClr val="4F6B4A"/>
          </a:solidFill>
          <a:ln/>
        </p:spPr>
      </p:sp>
      <p:sp>
        <p:nvSpPr>
          <p:cNvPr id="22" name="Text 20"/>
          <p:cNvSpPr/>
          <p:nvPr/>
        </p:nvSpPr>
        <p:spPr>
          <a:xfrm>
            <a:off x="6821424" y="1463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72784" y="188366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중 진료를 받으세요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72784" y="22311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S-080  “Contact your vet if… worsens”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052560" y="1298448"/>
            <a:ext cx="274320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80576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9729216" y="1463040"/>
            <a:ext cx="713232" cy="274320"/>
          </a:xfrm>
          <a:prstGeom prst="roundRect">
            <a:avLst>
              <a:gd name="adj" fmla="val 166667"/>
            </a:avLst>
          </a:prstGeom>
          <a:solidFill>
            <a:srgbClr val="6B6558"/>
          </a:solidFill>
          <a:ln/>
        </p:spPr>
      </p:sp>
      <p:sp>
        <p:nvSpPr>
          <p:cNvPr id="28" name="Text 26"/>
          <p:cNvSpPr/>
          <p:nvPr/>
        </p:nvSpPr>
        <p:spPr>
          <a:xfrm>
            <a:off x="9729216" y="1463040"/>
            <a:ext cx="71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80576" y="188366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집에서 지켜보고, 아래 증상이 나타나면 연락하세요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80576" y="22311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S-092  “Monitor. If not resolving, seek care.”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2560320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이름을 우리가 정하지 않았다 — </a:t>
            </a:r>
            <a:pPr indent="0" marL="0">
              <a:buNone/>
            </a:pPr>
            <a:r>
              <a:rPr lang="en-US" sz="110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 있는 코퍼스 42건에서 “보호자에게 무엇을 시키는가”를 모아 4단계로 갈랐다 (D-39). 각 등급 밑의 한 줄이 그 근거 원문이다.   ·   </a:t>
            </a:r>
            <a:pPr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클수록 위험하다 — max() 로 하향 금지가 성립하려면 이 방향이어야 한다.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" y="2889504"/>
            <a:ext cx="566928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" y="2889504"/>
            <a:ext cx="5669280" cy="402336"/>
          </a:xfrm>
          <a:prstGeom prst="roundRect">
            <a:avLst>
              <a:gd name="adj" fmla="val 20455"/>
            </a:avLst>
          </a:prstGeom>
          <a:solidFill>
            <a:srgbClr val="1B4C80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" y="288950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바닥은 어디서 오나 — rule_level 의 세 경로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75488" y="3383280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[계산]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517904" y="33832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정량계산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724912" y="3383280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섭취량 ÷ 체중 → 정량임계치.csv 15행의 역치와 비교. 범위·부등호는 안전한 쪽(낮은 값)으로 읽는다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" y="376732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6B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[근거]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517904" y="376732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724912" y="3767328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계산할 수 없는 행은 자료의 등급 표로만 말한다. 조류는 이 표에 0행이다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" y="4151376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8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[확인 안 됨]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517904" y="41513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양미상 · 가정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2724912" y="4151376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잰 자리는 바닥만 깔고, 못 쟀다는 사실을 문장에 적는다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5488" y="453542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“계산해서 나온 3”과 “양을 몰라 깔아 둔 3”이 화면에서 똑같이 생겼었다. </a:t>
            </a:r>
            <a:pPr indent="0" marL="0">
              <a:buNone/>
            </a:pPr>
            <a:r>
              <a:rPr lang="en-US" sz="950" b="1" dirty="0">
                <a:solidFill>
                  <a:srgbClr val="1B4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basis 를 각주가 아니라 level 과 같은 급의 필드로 낸다 — 계약이 “문장에도 실렸나”를 검사한다 (D-81).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81344" y="2889504"/>
            <a:ext cx="5669280" cy="1901952"/>
          </a:xfrm>
          <a:prstGeom prst="roundRect">
            <a:avLst>
              <a:gd name="adj" fmla="val 4327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81344" y="2889504"/>
            <a:ext cx="5669280" cy="402336"/>
          </a:xfrm>
          <a:prstGeom prst="roundRect">
            <a:avLst>
              <a:gd name="adj" fmla="val 20455"/>
            </a:avLst>
          </a:prstGeom>
          <a:solidFill>
            <a:srgbClr val="3A4F37"/>
          </a:solidFill>
          <a:ln/>
        </p:spPr>
      </p:sp>
      <p:sp>
        <p:nvSpPr>
          <p:cNvPr id="47" name="Text 45"/>
          <p:cNvSpPr/>
          <p:nvPr/>
        </p:nvSpPr>
        <p:spPr>
          <a:xfrm>
            <a:off x="6181344" y="288950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게이트가 강제하는 세 가지 — apply_gate()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327648" y="33832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하향 금지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430768" y="3383280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D-09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942832" y="3383280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= max(rule, llm). 막은 사실을 overridden 으로 남긴다 — 실측 5건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27648" y="3767328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잰 자리는 상향도 막는다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430768" y="3767328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D-80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942832" y="3767328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계산이 성립한 자리는 규칙이 맞다. 실측 — LLM 이 올린 10건 중 7건이 과대였다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27648" y="415137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조건 없는 MONITOR 금지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430768" y="4151376"/>
            <a:ext cx="512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D-39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942832" y="4151376"/>
            <a:ext cx="27797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상승 조건이 비면 예외로 죽는다. 조건 없는 “관찰”은 그 자체가 과소평가다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327648" y="453542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막았다는 사실을 지우지 않는다. </a:t>
            </a:r>
            <a:pPr indent="0" marL="0">
              <a:buNone/>
            </a:pPr>
            <a:r>
              <a:rPr lang="en-US" sz="9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llm_level 을 그대로 싣고 overridden · llm_capped 로 표시한다 — 조용히 무시하면 “LLM 이 규칙과 늘 같다”로 보이고, 그것은 거짓이다.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9184" y="4919472"/>
            <a:ext cx="11521440" cy="969264"/>
          </a:xfrm>
          <a:prstGeom prst="roundRect">
            <a:avLst>
              <a:gd name="adj" fmla="val 8491"/>
            </a:avLst>
          </a:prstGeom>
          <a:solidFill>
            <a:srgbClr val="E4EBE1"/>
          </a:solidFill>
          <a:ln w="15875">
            <a:solidFill>
              <a:srgbClr val="C9D6C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" y="502920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규칙도 LLM 도 등급을 못 내면, 등급을 만들지 않는다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66928" y="5358384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 과 llm 이 둘 다 비면 apply_gate 는 ValueError 로 죽고 질의는 거절 경로로 간다 —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등급이 없는 것은 장애가 아니라 답이다.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골든셋 60건 중 체중과 섭취량이 둘 다 있는 건은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B35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13건(33%)뿐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답변 셋 중 둘은 결손 상태에서 등급을 낸다. 그 결손을 숨기지 않는 것이 이 구조의 목적이다.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329184" y="6336792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— src/pettriage/triage/levels.py · gate.py · basis.py · compute/rules.py · tests/test_triage_gate.py · D-09 · D-39 · D-50 · D-80 · D-81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개념도1_사전바닥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669"/>
            <a:ext cx="12188952" cy="686933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E6AA2-C83A-8C99-97BF-913423C09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9E4CC696-E4A4-7FE5-15E9-61BF0E8CDDA5}"/>
              </a:ext>
            </a:extLst>
          </p:cNvPr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1A4C1FC-7463-5D9F-337B-71F3A70BD41A}"/>
              </a:ext>
            </a:extLst>
          </p:cNvPr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34949EF-247C-06C7-AB13-0FAD4E3DDB87}"/>
              </a:ext>
            </a:extLst>
          </p:cNvPr>
          <p:cNvCxnSpPr>
            <a:cxnSpLocks/>
          </p:cNvCxnSpPr>
          <p:nvPr/>
        </p:nvCxnSpPr>
        <p:spPr>
          <a:xfrm>
            <a:off x="-15240" y="792480"/>
            <a:ext cx="12207240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Text 0">
            <a:extLst>
              <a:ext uri="{FF2B5EF4-FFF2-40B4-BE49-F238E27FC236}">
                <a16:creationId xmlns:a16="http://schemas.microsoft.com/office/drawing/2014/main" id="{AD3DCD11-4FF2-3CC9-EDC3-15D51101410D}"/>
              </a:ext>
            </a:extLst>
          </p:cNvPr>
          <p:cNvSpPr/>
          <p:nvPr/>
        </p:nvSpPr>
        <p:spPr>
          <a:xfrm>
            <a:off x="243840" y="152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- </a:t>
            </a:r>
            <a:r>
              <a:rPr lang="en-US" sz="3200" b="1" dirty="0" err="1">
                <a:solidFill>
                  <a:sysClr val="windowText" lastClr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r>
              <a:rPr lang="en-US" sz="3200" b="1" dirty="0">
                <a:solidFill>
                  <a:sysClr val="windowText" lastClr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장치</a:t>
            </a:r>
            <a:endParaRPr lang="en-US" sz="3200" dirty="0">
              <a:solidFill>
                <a:sysClr val="windowText" lastClr="000000"/>
              </a:solidFill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1DC5E92-F75C-A4AE-2E75-03BEB5062789}"/>
              </a:ext>
            </a:extLst>
          </p:cNvPr>
          <p:cNvSpPr/>
          <p:nvPr/>
        </p:nvSpPr>
        <p:spPr>
          <a:xfrm>
            <a:off x="472440" y="92252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지표가 아니라 구조로 막는다</a:t>
            </a:r>
            <a:endParaRPr lang="en-US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DE16C840-51EC-03AF-DD2F-67D7BCCB02A2}"/>
              </a:ext>
            </a:extLst>
          </p:cNvPr>
          <p:cNvSpPr/>
          <p:nvPr/>
        </p:nvSpPr>
        <p:spPr>
          <a:xfrm>
            <a:off x="472440" y="172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89B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등급을 올릴 수는 있어도, 내릴 수 없다</a:t>
            </a:r>
            <a:endParaRPr lang="en-US" sz="28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A39FCA09-AD6D-C760-54FE-3829A98ACD1F}"/>
              </a:ext>
            </a:extLst>
          </p:cNvPr>
          <p:cNvSpPr/>
          <p:nvPr/>
        </p:nvSpPr>
        <p:spPr>
          <a:xfrm>
            <a:off x="472440" y="2275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triage_level = max(rule, llm)   —   규칙이 낸 등급은 확정이 아니라 바닥이다</a:t>
            </a:r>
            <a:endParaRPr lang="en-US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C4782F1-5328-3C37-9D75-F374664FFE7D}"/>
              </a:ext>
            </a:extLst>
          </p:cNvPr>
          <p:cNvSpPr/>
          <p:nvPr/>
        </p:nvSpPr>
        <p:spPr>
          <a:xfrm>
            <a:off x="472440" y="319024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455C41"/>
          </a:solidFill>
          <a:ln w="12700">
            <a:solidFill>
              <a:srgbClr val="5C73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2A77EE91-0EA6-9ABA-65F2-C7B0C802A3E5}"/>
              </a:ext>
            </a:extLst>
          </p:cNvPr>
          <p:cNvSpPr/>
          <p:nvPr/>
        </p:nvSpPr>
        <p:spPr>
          <a:xfrm>
            <a:off x="746760" y="341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하향 금지 게이트</a:t>
            </a:r>
            <a:endParaRPr lang="en-US" sz="15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E41C8242-16BD-504E-0184-2099623542B5}"/>
              </a:ext>
            </a:extLst>
          </p:cNvPr>
          <p:cNvSpPr/>
          <p:nvPr/>
        </p:nvSpPr>
        <p:spPr>
          <a:xfrm>
            <a:off x="746760" y="3876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프롬프트로 부탁하지 않는다.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내림을 불가능하게 만든다.</a:t>
            </a:r>
            <a:endParaRPr lang="en-US" sz="125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5FDA4358-E9DA-6EA7-CC83-8B9B2CC41172}"/>
              </a:ext>
            </a:extLst>
          </p:cNvPr>
          <p:cNvSpPr/>
          <p:nvPr/>
        </p:nvSpPr>
        <p:spPr>
          <a:xfrm>
            <a:off x="4175760" y="319024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455C41"/>
          </a:solidFill>
          <a:ln w="12700">
            <a:solidFill>
              <a:srgbClr val="5C73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B8A30399-1641-739C-851B-904847869537}"/>
              </a:ext>
            </a:extLst>
          </p:cNvPr>
          <p:cNvSpPr/>
          <p:nvPr/>
        </p:nvSpPr>
        <p:spPr>
          <a:xfrm>
            <a:off x="4450080" y="341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 미확인 시 답변 금지</a:t>
            </a:r>
            <a:endParaRPr lang="en-US" sz="15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F51E3815-CD98-A28B-2E99-465388B497F4}"/>
              </a:ext>
            </a:extLst>
          </p:cNvPr>
          <p:cNvSpPr/>
          <p:nvPr/>
        </p:nvSpPr>
        <p:spPr>
          <a:xfrm>
            <a:off x="4450080" y="3876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포유류 기준의 조류 적용은 치명적이다.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 없으면 검색 자체를 하지 않는다.</a:t>
            </a:r>
            <a:endParaRPr lang="en-US" sz="125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23FAB2BE-7488-B2B3-D3CC-D7D17C5C66AD}"/>
              </a:ext>
            </a:extLst>
          </p:cNvPr>
          <p:cNvSpPr/>
          <p:nvPr/>
        </p:nvSpPr>
        <p:spPr>
          <a:xfrm>
            <a:off x="7879080" y="319024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455C41"/>
          </a:solidFill>
          <a:ln w="12700">
            <a:solidFill>
              <a:srgbClr val="5C73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EDBBDBFB-5652-7E0A-CAD6-A6511259B232}"/>
              </a:ext>
            </a:extLst>
          </p:cNvPr>
          <p:cNvSpPr/>
          <p:nvPr/>
        </p:nvSpPr>
        <p:spPr>
          <a:xfrm>
            <a:off x="8153400" y="3418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없으면 답하지 않는다</a:t>
            </a:r>
            <a:endParaRPr lang="en-US" sz="15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4A030FD4-A0E7-F8B7-905C-120A5D069FE1}"/>
              </a:ext>
            </a:extLst>
          </p:cNvPr>
          <p:cNvSpPr/>
          <p:nvPr/>
        </p:nvSpPr>
        <p:spPr>
          <a:xfrm>
            <a:off x="8153400" y="38760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answered인데 citations가 비면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9D6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객체 생성 자체가 실패한다.</a:t>
            </a:r>
            <a:endParaRPr lang="en-US" sz="125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7B7C01DF-0B9B-EF42-DCD9-B8A100A0A3AF}"/>
              </a:ext>
            </a:extLst>
          </p:cNvPr>
          <p:cNvSpPr/>
          <p:nvPr/>
        </p:nvSpPr>
        <p:spPr>
          <a:xfrm>
            <a:off x="472440" y="5247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bg1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과소평가가 가장 나쁜 실패다. 틀리더라도 안전한 쪽으로 틀리게 만들었다.</a:t>
            </a:r>
            <a:endParaRPr lang="en-US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5318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20783-9670-B39D-B28B-F3E356DE4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8582213A-68C7-A967-DF87-E49E0408BC62}"/>
              </a:ext>
            </a:extLst>
          </p:cNvPr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860C763-026D-7A54-48B1-27060D21F9EF}"/>
              </a:ext>
            </a:extLst>
          </p:cNvPr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A957EE2-2D7F-D107-D702-8BEDBD64F8BF}"/>
              </a:ext>
            </a:extLst>
          </p:cNvPr>
          <p:cNvCxnSpPr>
            <a:cxnSpLocks/>
          </p:cNvCxnSpPr>
          <p:nvPr/>
        </p:nvCxnSpPr>
        <p:spPr>
          <a:xfrm>
            <a:off x="-15240" y="792480"/>
            <a:ext cx="12207240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Text 0">
            <a:extLst>
              <a:ext uri="{FF2B5EF4-FFF2-40B4-BE49-F238E27FC236}">
                <a16:creationId xmlns:a16="http://schemas.microsoft.com/office/drawing/2014/main" id="{9CC87F51-73E5-BF10-0B38-7C42E7B48D9A}"/>
              </a:ext>
            </a:extLst>
          </p:cNvPr>
          <p:cNvSpPr/>
          <p:nvPr/>
        </p:nvSpPr>
        <p:spPr>
          <a:xfrm>
            <a:off x="259080" y="152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200" b="1" dirty="0">
                <a:latin typeface="+mj-ea"/>
                <a:cs typeface="ADLaM Display" panose="02010000000000000000" pitchFamily="2" charset="0"/>
              </a:rPr>
              <a:t>PROOF</a:t>
            </a:r>
            <a:r>
              <a:rPr lang="ko-KR" altLang="en-US" sz="3200" b="1" dirty="0">
                <a:latin typeface="+mj-ea"/>
                <a:cs typeface="ADLaM Display" panose="02010000000000000000" pitchFamily="2" charset="0"/>
              </a:rPr>
              <a:t> </a:t>
            </a:r>
            <a:r>
              <a:rPr lang="en-US" altLang="ko-KR" sz="3200" b="1" dirty="0">
                <a:latin typeface="+mj-ea"/>
                <a:cs typeface="ADLaM Display" panose="02010000000000000000" pitchFamily="2" charset="0"/>
              </a:rPr>
              <a:t>-</a:t>
            </a:r>
            <a:r>
              <a:rPr lang="ko-KR" altLang="en-US" sz="3200" b="1" dirty="0">
                <a:latin typeface="+mj-ea"/>
                <a:cs typeface="ADLaM Display" panose="02010000000000000000" pitchFamily="2" charset="0"/>
              </a:rPr>
              <a:t> </a:t>
            </a:r>
            <a:r>
              <a:rPr lang="en-US" sz="32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r>
              <a:rPr lang="en-US" sz="32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2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475488" y="9601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6558"/>
                </a:solidFill>
                <a:latin typeface="Malgun Gothic"/>
              </a:rPr>
              <a:t>골든셋 60건 · 동결 커밋 freeze-0803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463040"/>
            <a:ext cx="25603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6002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3A4F37"/>
                </a:solidFill>
                <a:latin typeface="Malgun Gothic"/>
              </a:rPr>
              <a:t>65.0%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21284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C2A26"/>
                </a:solidFill>
                <a:latin typeface="Malgun Gothic"/>
              </a:rPr>
              <a:t>종합 통과율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5146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558"/>
                </a:solidFill>
                <a:latin typeface="Malgun Gothic"/>
              </a:rPr>
              <a:t>규칙만 45.0%  →  +20.0%p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8688" y="1463040"/>
            <a:ext cx="25603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47288" y="16002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4F6B4A"/>
                </a:solidFill>
                <a:latin typeface="Malgun Gothic"/>
              </a:rPr>
              <a:t>0건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21284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C2A26"/>
                </a:solidFill>
                <a:latin typeface="Malgun Gothic"/>
              </a:rPr>
              <a:t>심각한 과소평가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5146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558"/>
                </a:solidFill>
                <a:latin typeface="Malgun Gothic"/>
              </a:rPr>
              <a:t>다섯 번 측정 전부 0건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61888" y="1463040"/>
            <a:ext cx="25603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0488" y="16002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C98A1E"/>
                </a:solidFill>
                <a:latin typeface="Malgun Gothic"/>
              </a:rPr>
              <a:t>3.6%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0488" y="221284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C2A26"/>
                </a:solidFill>
                <a:latin typeface="Malgun Gothic"/>
              </a:rPr>
              <a:t>응급인데 등급 못 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25146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558"/>
                </a:solidFill>
                <a:latin typeface="Malgun Gothic"/>
              </a:rPr>
              <a:t>규칙만 25.0% (7/28)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463040"/>
            <a:ext cx="2560320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33688" y="16002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6B6558"/>
                </a:solidFill>
                <a:latin typeface="Malgun Gothic"/>
              </a:rPr>
              <a:t>동일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3688" y="221284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C2A26"/>
                </a:solidFill>
                <a:latin typeface="Malgun Gothic"/>
              </a:rPr>
              <a:t>LangChain 연동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3688" y="25146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558"/>
                </a:solidFill>
                <a:latin typeface="Malgun Gothic"/>
              </a:rPr>
              <a:t>실패 21건까지 완전 일치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3154680"/>
            <a:ext cx="6949440" cy="310896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12700">
            <a:solidFill>
              <a:srgbClr val="3A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3209544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7520" y="3209544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AI 없이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209544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AI 연동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209544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Malgun Gothic"/>
              </a:rPr>
              <a:t>LangChain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483864"/>
            <a:ext cx="6949440" cy="310896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 w="12700">
            <a:solidFill>
              <a:srgbClr val="E4E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3538728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C2A26"/>
                </a:solidFill>
                <a:latin typeface="Malgun Gothic"/>
              </a:rPr>
              <a:t>통과율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353872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C2A26"/>
                </a:solidFill>
                <a:latin typeface="Malgun Gothic"/>
              </a:rPr>
              <a:t>45.0%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353872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C2A26"/>
                </a:solidFill>
                <a:latin typeface="Malgun Gothic"/>
              </a:rPr>
              <a:t>65.0%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353872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C2A26"/>
                </a:solidFill>
                <a:latin typeface="Malgun Gothic"/>
              </a:rPr>
              <a:t>65.0%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867911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C2A26"/>
                </a:solidFill>
                <a:latin typeface="Malgun Gothic"/>
              </a:rPr>
              <a:t>질문에 답한 비율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3867911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C2A26"/>
                </a:solidFill>
                <a:latin typeface="Malgun Gothic"/>
              </a:rPr>
              <a:t>63.3%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3867911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C2A26"/>
                </a:solidFill>
                <a:latin typeface="Malgun Gothic"/>
              </a:rPr>
              <a:t>83.3%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3867911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C2A26"/>
                </a:solidFill>
                <a:latin typeface="Malgun Gothic"/>
              </a:rPr>
              <a:t>83.3%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" y="4142232"/>
            <a:ext cx="6949440" cy="310896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 w="12700">
            <a:solidFill>
              <a:srgbClr val="E4E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" y="4197096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C2A26"/>
                </a:solidFill>
                <a:latin typeface="Malgun Gothic"/>
              </a:rPr>
              <a:t>위험을 낮게 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41970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C2A26"/>
                </a:solidFill>
                <a:latin typeface="Malgun Gothic"/>
              </a:rPr>
              <a:t>7.4% (2건)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1970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C2A26"/>
                </a:solidFill>
                <a:latin typeface="Malgun Gothic"/>
              </a:rPr>
              <a:t>0건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197096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C2A26"/>
                </a:solidFill>
                <a:latin typeface="Malgun Gothic"/>
              </a:rPr>
              <a:t>2.8% (1건)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452628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C2A26"/>
                </a:solidFill>
                <a:latin typeface="Malgun Gothic"/>
              </a:rPr>
              <a:t>응급인데 등급 못 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45262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C2A26"/>
                </a:solidFill>
                <a:latin typeface="Malgun Gothic"/>
              </a:rPr>
              <a:t>25.0%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45262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C2A26"/>
                </a:solidFill>
                <a:latin typeface="Malgun Gothic"/>
              </a:rPr>
              <a:t>3.6%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0" y="45262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C2A26"/>
                </a:solidFill>
                <a:latin typeface="Malgun Gothic"/>
              </a:rPr>
              <a:t>3.6%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5488" y="4800600"/>
            <a:ext cx="6949440" cy="310896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 w="12700">
            <a:solidFill>
              <a:srgbClr val="E4E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" y="4855464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C2A26"/>
                </a:solidFill>
                <a:latin typeface="Malgun Gothic"/>
              </a:rPr>
              <a:t>출처를 붙인 비율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4855464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C2A26"/>
                </a:solidFill>
                <a:latin typeface="Malgun Gothic"/>
              </a:rPr>
              <a:t>59.0%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80560" y="4855464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C2A26"/>
                </a:solidFill>
                <a:latin typeface="Malgun Gothic"/>
              </a:rPr>
              <a:t>79.5%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4855464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C2A26"/>
                </a:solidFill>
                <a:latin typeface="Malgun Gothic"/>
              </a:rPr>
              <a:t>79.5%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5184648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C2A26"/>
                </a:solidFill>
                <a:latin typeface="Malgun Gothic"/>
              </a:rPr>
              <a:t>응답 시간(중앙값)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17520" y="51846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C2A26"/>
                </a:solidFill>
                <a:latin typeface="Malgun Gothic"/>
              </a:rPr>
              <a:t>0.15초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560" y="51846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C2A26"/>
                </a:solidFill>
                <a:latin typeface="Malgun Gothic"/>
              </a:rPr>
              <a:t>10.4초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518464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C2A26"/>
                </a:solidFill>
                <a:latin typeface="Malgun Gothic"/>
              </a:rPr>
              <a:t>10.2초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80960" y="3154680"/>
            <a:ext cx="3538728" cy="1051560"/>
          </a:xfrm>
          <a:prstGeom prst="roundRect">
            <a:avLst>
              <a:gd name="adj" fmla="val 6000"/>
            </a:avLst>
          </a:prstGeom>
          <a:solidFill>
            <a:srgbClr val="E4EBE1"/>
          </a:solidFill>
          <a:ln w="12700">
            <a:solidFill>
              <a:srgbClr val="E4EB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09560" y="32918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A4F37"/>
                </a:solidFill>
                <a:latin typeface="Malgun Gothic"/>
              </a:rPr>
              <a:t>가장 크게 좋아진 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09560" y="361188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558"/>
                </a:solidFill>
                <a:latin typeface="Malgun Gothic"/>
              </a:rPr>
              <a:t>응급 28건 중 규칙만으로는 7건이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558"/>
                </a:solidFill>
                <a:latin typeface="Malgun Gothic"/>
              </a:rPr>
              <a:t>등급을 못 냈다. AI를 붙여 1건.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80960" y="4343400"/>
            <a:ext cx="353872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909560" y="44805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3542F"/>
                </a:solidFill>
                <a:latin typeface="Malgun Gothic"/>
              </a:rPr>
              <a:t>대가는 속도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09560" y="480060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558"/>
                </a:solidFill>
                <a:latin typeface="Malgun Gothic"/>
              </a:rPr>
              <a:t>0.15초 → 10.4초. 스트리밍 미적용이라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558"/>
                </a:solidFill>
                <a:latin typeface="Malgun Gothic"/>
              </a:rPr>
              <a:t>그동안 화면이 비어 있다.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" y="5532120"/>
            <a:ext cx="6949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558"/>
                </a:solidFill>
                <a:latin typeface="Malgun Gothic"/>
              </a:rPr>
              <a:t>※ 상태·등급·필수 문구·금지 문구를 모두 만족해야 통과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75488" y="5852160"/>
            <a:ext cx="10744200" cy="896112"/>
          </a:xfrm>
          <a:prstGeom prst="roundRect">
            <a:avLst>
              <a:gd name="adj" fmla="val 9000"/>
            </a:avLst>
          </a:prstGeom>
          <a:solidFill>
            <a:srgbClr val="E7EDE4"/>
          </a:solidFill>
          <a:ln w="15875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13232" y="5943600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>
                <a:solidFill>
                  <a:srgbClr val="3A4F37"/>
                </a:solidFill>
                <a:latin typeface="Malgun Gothic"/>
              </a:rPr>
              <a:t>파인튜닝 (Qwen3-4B + QLoRA) — 측정·작성 이서은(WS3)</a:t>
            </a:r>
            <a:r>
              <a:rPr sz="1200" b="0">
                <a:solidFill>
                  <a:srgbClr val="6B6558"/>
                </a:solidFill>
                <a:latin typeface="Malgun Gothic"/>
              </a:rPr>
              <a:t>   ·   같은 60건이 아니라 학습셋 held-out 20건씩 · 정확 일치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3232" y="62179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50" b="1">
                <a:solidFill>
                  <a:srgbClr val="B3542F"/>
                </a:solidFill>
                <a:latin typeface="Malgun Gothic"/>
              </a:rPr>
              <a:t>④ 근거 검증  10/20  →  20/20</a:t>
            </a:r>
            <a:r>
              <a:rPr sz="1350" b="0">
                <a:solidFill>
                  <a:srgbClr val="6B6558"/>
                </a:solidFill>
                <a:latin typeface="Malgun Gothic"/>
              </a:rPr>
              <a:t>  (Fisher p = 0.0004)</a:t>
            </a:r>
            <a:r>
              <a:rPr sz="1350" b="0">
                <a:solidFill>
                  <a:srgbClr val="2C2A26"/>
                </a:solidFill>
                <a:latin typeface="Malgun Gothic"/>
              </a:rPr>
              <a:t>     ·     ① 분류 · ② 슬롯은 베이스도 20/20 — </a:t>
            </a:r>
            <a:r>
              <a:rPr sz="1350" b="1">
                <a:solidFill>
                  <a:srgbClr val="2C2A26"/>
                </a:solidFill>
                <a:latin typeface="Malgun Gothic"/>
              </a:rPr>
              <a:t>차이가 안 보인다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3232" y="6510528"/>
            <a:ext cx="103327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>
                <a:solidFill>
                  <a:srgbClr val="6B6558"/>
                </a:solidFill>
                <a:latin typeface="Malgun Gothic"/>
              </a:rPr>
              <a:t>⚠ 다른 축의 측정이라 위 표와 나란히 읽지 않는다. 골든셋 60건 기준 비교군 C·D 는 여전히 미측정 — 학습 6,739건 · 골든셋 누수 0건 · 재현 커밋 71322b1</a:t>
            </a:r>
          </a:p>
        </p:txBody>
      </p:sp>
    </p:spTree>
    <p:extLst>
      <p:ext uri="{BB962C8B-B14F-4D97-AF65-F5344CB8AC3E}">
        <p14:creationId xmlns:p14="http://schemas.microsoft.com/office/powerpoint/2010/main" val="294309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ut/개념도2_방어층_G-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8687"/>
            <a:ext cx="12188952" cy="68953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E4EBE1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E4EBE1"/>
          </a:solidFill>
          <a:ln/>
        </p:spPr>
      </p:sp>
      <p:sp>
        <p:nvSpPr>
          <p:cNvPr id="4" name="Text 2"/>
          <p:cNvSpPr/>
          <p:nvPr/>
        </p:nvSpPr>
        <p:spPr>
          <a:xfrm>
            <a:off x="301752" y="15544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PROOF - </a:t>
            </a:r>
            <a:pPr indent="0" marL="0">
              <a:buNone/>
            </a:pPr>
            <a:r>
              <a:rPr lang="en-US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— 같은 환경에서, 망가뜨리지 않고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795528"/>
            <a:ext cx="12207240" cy="41148"/>
          </a:xfrm>
          <a:prstGeom prst="rect">
            <a:avLst/>
          </a:prstGeom>
          <a:solidFill>
            <a:srgbClr val="5BA83E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" y="896112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규칙을 말로 정하지 않았다. 명령 한 줄과 자동 검사로 강제했다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9184" y="1353312"/>
            <a:ext cx="2743200" cy="34015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" y="1353312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4F6B4A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1353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환경을 복제한다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9202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constraints.txt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" y="2157984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버전을 잠근다. 실험 결과를 보고할 때 이 파일의 커밋 해시를 함께 적는다 — 누구나 같은 환경을 재현한다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75488" y="294436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 db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" y="3182112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을 로컬에 설치하지 않는다. 컨테이너 하나로 전원이 같은 DB 를 띄운다 (D-48)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75488" y="396849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 doctor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" y="4206240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기계에서 무엇이 빠졌는지 한 줄씩 짚는다. 고치지는 않고 알려만 준다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236976" y="1353312"/>
            <a:ext cx="2743200" cy="34015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36976" y="1353312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C98A1E"/>
          </a:solidFill>
          <a:ln/>
        </p:spPr>
      </p:sp>
      <p:sp>
        <p:nvSpPr>
          <p:cNvPr id="18" name="Text 16"/>
          <p:cNvSpPr/>
          <p:nvPr/>
        </p:nvSpPr>
        <p:spPr>
          <a:xfrm>
            <a:off x="3236976" y="1353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없이도 일한다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19202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임포트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83280" y="2157984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torch · transformers 를 함수 안에서만 불러온다. GPU 없는 팀원도 API 서버와 pytest 가 그대로 돈다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3383280" y="294436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[api] [rag] [db] [train]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83280" y="3182112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역할별로 의존성 그룹을 쪼갰다. 백엔드 담당은 학습 스택을 받지 않는다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3383280" y="396849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폴백 경로 유지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83280" y="4206240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파인튜닝이 늦어져도 대형 LLM 으로 시연은 남는다. 한 사람이 막혀도 팀이 멈추지 않는다 (D-21)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144768" y="1353312"/>
            <a:ext cx="2743200" cy="34015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44768" y="1353312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1F6FB5"/>
          </a:solidFill>
          <a:ln/>
        </p:spPr>
      </p:sp>
      <p:sp>
        <p:nvSpPr>
          <p:cNvPr id="27" name="Text 25"/>
          <p:cNvSpPr/>
          <p:nvPr/>
        </p:nvSpPr>
        <p:spPr>
          <a:xfrm>
            <a:off x="6144768" y="1353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결정을 그 시점에 남긴다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91072" y="19202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결정 기록 86건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91072" y="2157984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회의록으로 뭉뚱그리지 않는다. 맥락·대안·트레이드오프를 결정하는 그 순간에 적었다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6291072" y="294436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기여를 그 자리에 표시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91072" y="3182112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D-73 이서은 · D-91 오한빈·이서은 합의 — 누가 무엇을 바꿨는지 문서에 박혀 있다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6291072" y="396849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docs/07 작업 배분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91072" y="4206240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시점별 변경과 담당을 따로 추적해 중복·누락을 막았다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9052560" y="1353312"/>
            <a:ext cx="2743200" cy="34015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DFD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1353312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B3542F"/>
          </a:solidFill>
          <a:ln/>
        </p:spPr>
      </p:sp>
      <p:sp>
        <p:nvSpPr>
          <p:cNvPr id="36" name="Text 34"/>
          <p:cNvSpPr/>
          <p:nvPr/>
        </p:nvSpPr>
        <p:spPr>
          <a:xfrm>
            <a:off x="9052560" y="1353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깨진 코드는 못 들어온다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98864" y="19202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+ pytest 585건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198864" y="2157984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을 올리면 GitHub Actions 가 안전장치 회귀 테스트와 ruff · mypy · pre-commit 을 자동으로 돌린다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9198864" y="294436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폴더마다 README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198864" y="3182112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"여기에 무엇이 들어가고 무엇이 들어가면 안 되는지"를 그 자리에서 알 수 있다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9198864" y="396849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동결 태그 freeze-0803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198864" y="4206240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측정의 기준선을 커밋으로 고정했다. 누가 언제 다시 재도 같은 판이 나온다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329184" y="4882896"/>
            <a:ext cx="11521440" cy="932688"/>
          </a:xfrm>
          <a:prstGeom prst="roundRect">
            <a:avLst>
              <a:gd name="adj" fmla="val 8824"/>
            </a:avLst>
          </a:prstGeom>
          <a:solidFill>
            <a:srgbClr val="E4EBE1"/>
          </a:solidFill>
          <a:ln w="15875">
            <a:solidFill>
              <a:srgbClr val="C9D6C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4992624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대부분 사고 뒤에 생겼다 —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누군가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B35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[db]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그룹 없이 테스트를 돌리면 pytest 요약은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"1 skipped"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줄로만 보인다.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B354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인증·프로필 25건이 통과한 것처럼 착각한다.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 실측 사례를 문서에 박아 두었다. 설정도 같다 —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A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값을 두 곳에 적지 않고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configs/*.yaml 과 .env 의 경계를 .github/CONTRIBUTING.md 로 강제한다.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29184" y="6336792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5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— Makefile · pyproject.toml [optional-dependencies] · docs/06 설계 결정 기록 · docs/07 작업배분 · .github/CONTRIBUTING.md · 폴더별 README 10개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8AA2B-A99B-C35B-0EDE-227E22C54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B63186FE-92F5-5DE0-3947-26D29D4CC091}"/>
              </a:ext>
            </a:extLst>
          </p:cNvPr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1D3B447-9162-8C19-04EE-0F2F751C6757}"/>
              </a:ext>
            </a:extLst>
          </p:cNvPr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C5BB0A1-5DEC-FB1B-CA88-90720FF13AF2}"/>
              </a:ext>
            </a:extLst>
          </p:cNvPr>
          <p:cNvCxnSpPr>
            <a:cxnSpLocks/>
          </p:cNvCxnSpPr>
          <p:nvPr/>
        </p:nvCxnSpPr>
        <p:spPr>
          <a:xfrm>
            <a:off x="-15240" y="792480"/>
            <a:ext cx="12207240" cy="0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Text 0">
            <a:extLst>
              <a:ext uri="{FF2B5EF4-FFF2-40B4-BE49-F238E27FC236}">
                <a16:creationId xmlns:a16="http://schemas.microsoft.com/office/drawing/2014/main" id="{CD3559F3-8D91-315F-3C72-4BF99A40ED01}"/>
              </a:ext>
            </a:extLst>
          </p:cNvPr>
          <p:cNvSpPr/>
          <p:nvPr/>
        </p:nvSpPr>
        <p:spPr>
          <a:xfrm>
            <a:off x="259080" y="152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3200" b="1" dirty="0">
                <a:solidFill>
                  <a:srgbClr val="2C2A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 - </a:t>
            </a:r>
            <a:r>
              <a:rPr lang="en-US" sz="3200" b="1" dirty="0" err="1">
                <a:solidFill>
                  <a:sysClr val="windowText" lastClr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</a:t>
            </a:r>
            <a:r>
              <a:rPr lang="en-US" sz="3200" b="1" dirty="0">
                <a:solidFill>
                  <a:sysClr val="windowText" lastClr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다음 단계</a:t>
            </a:r>
            <a:endParaRPr lang="en-US" sz="3200" dirty="0">
              <a:solidFill>
                <a:sysClr val="windowText" lastClr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5488" y="9601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6B6558"/>
                </a:solidFill>
                <a:latin typeface="Malgun Gothic"/>
              </a:rPr>
              <a:t>숨기지 않는다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" y="1463040"/>
            <a:ext cx="52578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6420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3542F"/>
                </a:solidFill>
                <a:latin typeface="Malgun Gothic"/>
              </a:rPr>
              <a:t>알고 있는 결함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21408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2A26"/>
                </a:solidFill>
                <a:latin typeface="Malgun Gothic"/>
              </a:rPr>
              <a:t>· 10.4초 침묵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77439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558"/>
                </a:solidFill>
                <a:latin typeface="Malgun Gothic"/>
              </a:rPr>
              <a:t>스트리밍 미적용 — 응급 상황에서 설계 결함이다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2A26"/>
                </a:solidFill>
                <a:latin typeface="Malgun Gothic"/>
              </a:rPr>
              <a:t>· 지켜진 것은 등급이지 문장이 아니다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99232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558"/>
                </a:solidFill>
                <a:latin typeface="Malgun Gothic"/>
              </a:rPr>
              <a:t>엉뚱한 출처가 붙는 경우가 남아 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4991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2A26"/>
                </a:solidFill>
                <a:latin typeface="Malgun Gothic"/>
              </a:rPr>
              <a:t>· “먹여도 되나요” 유형 통과 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21024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558"/>
                </a:solidFill>
                <a:latin typeface="Malgun Gothic"/>
              </a:rPr>
              <a:t>구조가 다른 질문이라 별도 설계가 필요하다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86783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2A26"/>
                </a:solidFill>
                <a:latin typeface="Malgun Gothic"/>
              </a:rPr>
              <a:t>· 작은 모델 비교 미측정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42816"/>
            <a:ext cx="44805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558"/>
                </a:solidFill>
                <a:latin typeface="Malgun Gothic"/>
              </a:rPr>
              <a:t>60건 기준으로는 아직 답하지 못했다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61888" y="1463040"/>
            <a:ext cx="52578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1664208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A4F37"/>
                </a:solidFill>
                <a:latin typeface="Malgun Gothic"/>
              </a:rPr>
              <a:t>다음에 할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121408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2A26"/>
                </a:solidFill>
                <a:latin typeface="Malgun Gothic"/>
              </a:rPr>
              <a:t>· 근거 적합성 검사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77439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558"/>
                </a:solidFill>
                <a:latin typeface="Malgun Gothic"/>
              </a:rPr>
              <a:t>질문의 물질과 출처의 물질이 다르면 근거에서 제외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558"/>
                </a:solidFill>
                <a:latin typeface="Malgun Gothic"/>
              </a:rPr>
              <a:t>(부동액 사례의 근본 대책)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944368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2A26"/>
                </a:solidFill>
                <a:latin typeface="Malgun Gothic"/>
              </a:rPr>
              <a:t>· 학습된 검증 모델을 실제 경로에 연결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20040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558"/>
                </a:solidFill>
                <a:latin typeface="Malgun Gothic"/>
              </a:rPr>
              <a:t>파인튜닝으로 10/20 → 20/20이 된 그 모델이다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767328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C2A26"/>
                </a:solidFill>
                <a:latin typeface="Malgun Gothic"/>
              </a:rPr>
              <a:t>· 스트리밍 · 예방 질문 경로 재설계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233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558"/>
                </a:solidFill>
                <a:latin typeface="Malgun Gothic"/>
              </a:rPr>
              <a:t>침묵을 없애고, 구조가 다른 질문을 따로 받는다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4846320"/>
            <a:ext cx="10744200" cy="731520"/>
          </a:xfrm>
          <a:prstGeom prst="roundRect">
            <a:avLst>
              <a:gd name="adj" fmla="val 6000"/>
            </a:avLst>
          </a:prstGeom>
          <a:solidFill>
            <a:srgbClr val="3A4F37"/>
          </a:solidFill>
          <a:ln w="12700">
            <a:solidFill>
              <a:srgbClr val="3A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5029200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algun Gothic"/>
              </a:rPr>
              <a:t>이 시스템은 AI를 믿어서 안전한 것이 아니라, 믿지 않도록 설계해서 안전하다.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576072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6558"/>
                </a:solidFill>
                <a:latin typeface="Malgun Gothic"/>
              </a:rPr>
              <a:t>재현 · git checkout freeze-0803 → run_eval.py --arm none — API 키 없이 기준선을 다시 잴 수 있다.</a:t>
            </a:r>
          </a:p>
        </p:txBody>
      </p:sp>
    </p:spTree>
    <p:extLst>
      <p:ext uri="{BB962C8B-B14F-4D97-AF65-F5344CB8AC3E}">
        <p14:creationId xmlns:p14="http://schemas.microsoft.com/office/powerpoint/2010/main" val="225668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1FE0FB-98FB-B6A6-7903-0D0267455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19108949-2DCE-D8EF-2DF0-843E8C85661D}"/>
              </a:ext>
            </a:extLst>
          </p:cNvPr>
          <p:cNvSpPr/>
          <p:nvPr/>
        </p:nvSpPr>
        <p:spPr>
          <a:xfrm>
            <a:off x="9509760" y="-1371600"/>
            <a:ext cx="4206240" cy="4206240"/>
          </a:xfrm>
          <a:prstGeom prst="ellipse">
            <a:avLst/>
          </a:prstGeom>
          <a:solidFill>
            <a:srgbClr val="455C41"/>
          </a:solidFill>
          <a:ln w="12700">
            <a:solidFill>
              <a:srgbClr val="455C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60F72412-FF0D-6BC7-2E07-49D6DFCA26A4}"/>
              </a:ext>
            </a:extLst>
          </p:cNvPr>
          <p:cNvSpPr/>
          <p:nvPr/>
        </p:nvSpPr>
        <p:spPr>
          <a:xfrm>
            <a:off x="-1097280" y="4937760"/>
            <a:ext cx="2926080" cy="2926080"/>
          </a:xfrm>
          <a:prstGeom prst="ellipse">
            <a:avLst/>
          </a:prstGeom>
          <a:solidFill>
            <a:srgbClr val="455C41"/>
          </a:solidFill>
          <a:ln w="12700">
            <a:solidFill>
              <a:srgbClr val="455C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5E61EA5C-6B65-C66A-E2E6-196EC0D508A2}"/>
              </a:ext>
            </a:extLst>
          </p:cNvPr>
          <p:cNvSpPr/>
          <p:nvPr/>
        </p:nvSpPr>
        <p:spPr>
          <a:xfrm>
            <a:off x="4277360" y="2834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감사합니다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021462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1110</Words>
  <Application>Microsoft Office PowerPoint</Application>
  <PresentationFormat>와이드스크린</PresentationFormat>
  <Paragraphs>280</Paragraphs>
  <Slides>14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소라 권</dc:creator>
  <cp:lastModifiedBy>소라 권</cp:lastModifiedBy>
  <cp:revision>10</cp:revision>
  <dcterms:created xsi:type="dcterms:W3CDTF">2026-08-04T00:33:31Z</dcterms:created>
  <dcterms:modified xsi:type="dcterms:W3CDTF">2026-08-04T06:19:55Z</dcterms:modified>
</cp:coreProperties>
</file>